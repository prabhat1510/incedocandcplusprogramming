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59" r:id="rId10"/>
    <p:sldId id="261" r:id="rId11"/>
    <p:sldId id="262" r:id="rId12"/>
    <p:sldId id="263" r:id="rId13"/>
    <p:sldId id="260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45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23074-BC9C-412F-A2F5-442EC8350CF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88DD1-5967-49C3-AC9F-00502A9EE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5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knows:</a:t>
            </a:r>
          </a:p>
          <a:p>
            <a:r>
              <a:rPr lang="en-US" dirty="0"/>
              <a:t>Who is before it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dirty="0"/>
              <a:t>)</a:t>
            </a:r>
          </a:p>
          <a:p>
            <a:r>
              <a:rPr lang="en-US" dirty="0"/>
              <a:t>Who is after it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This allows:</a:t>
            </a:r>
          </a:p>
          <a:p>
            <a:r>
              <a:rPr lang="en-US" dirty="0"/>
              <a:t>Traversal in </a:t>
            </a:r>
            <a:r>
              <a:rPr lang="en-US" b="1" dirty="0"/>
              <a:t>both directions</a:t>
            </a:r>
            <a:endParaRPr lang="en-US" dirty="0"/>
          </a:p>
          <a:p>
            <a:r>
              <a:rPr lang="en-US" dirty="0"/>
              <a:t>Easier deletion (no need to track previous node separately)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88DD1-5967-49C3-AC9F-00502A9EEC8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12BB-D61C-FAE8-B26D-3E4151059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6AD54-91E4-EFD4-7367-6B4F9C342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914C2-4511-7849-5348-D612D10A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5C097-8F46-3677-F905-08F2D05A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0671-2920-CDA8-7C25-2B18F41A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7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7898-E61D-1FFF-2192-2DD1FCF4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0ECC-274E-BED7-2559-DF7214263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4A862-0207-573F-09B6-2B0F03E4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242B-CF4D-E455-FBB7-6194F37C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596F-535F-3F43-91AF-3FA8FC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28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1A2E-AA7B-99FE-7B34-89FF03CA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8D04-0691-0025-6A23-05076A511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4072C-77AD-2C04-D805-D51ABFC3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D514A-C832-690A-B1DD-08FD5E44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5F050-8F08-5F7A-C655-5A6BE9CB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1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C6A6-E058-1C61-4616-D9E7E182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F88A2-DB69-792F-A653-5BB0001A8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31EF2-B0F1-44B5-73AE-A4844666F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751D1-4344-5795-5B53-3D30F590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A0A80-E473-1D2C-91BF-D7AD8A7D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78AB1-981E-16BE-6381-4E39AD02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3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1A13-8711-B0C0-2758-6FE3BE78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A903F-79BC-133F-69F0-1CFCD2AD6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55ED1-DFDE-285D-4A8E-B6A3E4833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3E8F5-AB08-0837-B818-999ABB871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03021-9793-5092-A5CF-896A5A6C4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BFA53E-E9DC-A5A6-F086-0BDE4182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9DF8F-4376-1EF3-FDF7-2CF8CE2D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67C03-590F-C4E7-71C2-016A7BA9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13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1931-ADDF-FDD4-67A9-F6745EAA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7CFD7-1B70-06EB-8C2E-ECC4C8D5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E4156-A489-96EE-089E-EAC96388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7BCA4-15CA-D184-3D15-29B6690B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2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03598-2C7B-8621-F3F8-3287CD8F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8A6E7-47AE-D59A-8423-5123BBF3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A5C48-E74D-C94C-A455-62E3BA6D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1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354A-5D20-CF8F-0D46-00606801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B07B8-D185-6CC3-E8EF-5D6DA4DA5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D06E2-7DAB-6EF1-DA53-55DCE0F1E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B9EC-75F1-F01F-0B97-13BBACFB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9A82-DE3D-5C2E-AB8D-C1336983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AB659-B32B-4085-543A-D4E156E6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0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CF55-25CD-2682-2DAE-733F6C24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518AE-7592-E4B5-35B7-09F6CF63C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4CFB4-31E6-378E-EE78-9B38CDB69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DDCC8-17DF-9F55-3AE1-4D48EC39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318B7-73EB-5119-4363-CE80B799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6A083-CC9D-FD8A-D736-A3C4F9AB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1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3D83-1E7B-99DC-9171-2EC17EB2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B2356-8E3D-AB90-4A2F-436C4D9BA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3528-15C3-CAC7-1E51-8A82E5F1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C6CD5-05ED-F2D4-1F13-14A06FD3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1907-092F-B6EA-B109-7120D64B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6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A9D03-1271-DEAE-9AD6-05EC9BA89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E9EFE-FBC6-AEF2-3166-64C3DAC73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96DCD-38D6-2363-7BC2-283A92D8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00EA4-631B-4AA0-6AFF-5438FBF3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DA92-BE73-BDD6-37FE-4ED57B70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4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3858F-9B9C-F914-5BE8-FA8902D4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4C107-180F-14B8-847D-3BD1457BE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DAE-C5A3-C903-7BF4-2F4A36337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D1463-0353-4105-8DBB-3E6428EF2F3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D8E71-8207-9957-02B7-5840B9AD0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A9279-8306-4B6E-375F-F037F9D65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37907-3B0F-467F-919D-EEB38A890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5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819E-CAEC-B931-B2B6-DD2A991F5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Structures in 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69812-1FCA-64C4-A0AA-A25431CA6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62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7DC-761D-7962-1F5E-92D99E6C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6C26-8012-29B5-B742-A1DC7B13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C, a </a:t>
            </a:r>
            <a:r>
              <a:rPr lang="en-US" b="1" dirty="0"/>
              <a:t>data structure</a:t>
            </a:r>
            <a:r>
              <a:rPr lang="en-US" dirty="0"/>
              <a:t> is a way to organize and store data efficiently so that it can be accessed and modified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05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BE22-F11B-0895-F15E-D4A207B5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Basic Data Structures in C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8ACD19-4835-B07A-BBD7-FCCE0F6C3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956251"/>
              </p:ext>
            </p:extLst>
          </p:nvPr>
        </p:nvGraphicFramePr>
        <p:xfrm>
          <a:off x="838200" y="1829830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716011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78124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8604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144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Fixed-size collection of same-type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90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LIFO (Last In First Out)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5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FIFO (First In First Out)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03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collection of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6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Hierarchical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61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of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Maps,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65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43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9554-D036-7F4D-1800-55E1F1E1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4192-A861-BD59-8C02-3AB7ECEF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is a linear data structure that follows the principle:</a:t>
            </a:r>
          </a:p>
          <a:p>
            <a:r>
              <a:rPr lang="en-US" b="1" dirty="0"/>
              <a:t>LIFO – Last In, First Out</a:t>
            </a:r>
            <a:endParaRPr lang="en-US" dirty="0"/>
          </a:p>
          <a:p>
            <a:r>
              <a:rPr lang="en-US" dirty="0"/>
              <a:t>Think of a stack of plates:</a:t>
            </a:r>
          </a:p>
          <a:p>
            <a:r>
              <a:rPr lang="en-US" dirty="0"/>
              <a:t>You put a plate on top → </a:t>
            </a:r>
            <a:r>
              <a:rPr lang="en-US" b="1" dirty="0"/>
              <a:t>Push</a:t>
            </a:r>
            <a:endParaRPr lang="en-US" dirty="0"/>
          </a:p>
          <a:p>
            <a:r>
              <a:rPr lang="en-US" dirty="0"/>
              <a:t>You remove the top plate → </a:t>
            </a:r>
            <a:r>
              <a:rPr lang="en-US" b="1" dirty="0"/>
              <a:t>Pop</a:t>
            </a:r>
            <a:endParaRPr lang="en-US" dirty="0"/>
          </a:p>
          <a:p>
            <a:r>
              <a:rPr lang="en-US" dirty="0"/>
              <a:t>You can only see the top plate → </a:t>
            </a:r>
            <a:r>
              <a:rPr lang="en-US" b="1" dirty="0"/>
              <a:t>Peek</a:t>
            </a:r>
            <a:endParaRPr lang="en-US" dirty="0"/>
          </a:p>
          <a:p>
            <a:r>
              <a:rPr lang="en-US" dirty="0"/>
              <a:t>In C, a stack is commonly implemented using an </a:t>
            </a:r>
            <a:r>
              <a:rPr lang="en-US" b="1" dirty="0"/>
              <a:t>array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15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4465-972D-8A01-EFDC-AEDFB1318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 Operations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E1F462-DAAC-CC36-3602-A072A675A9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234551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17672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0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push()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 an element at the 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695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pop()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the top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2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peek()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the top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95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isEmpty()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 if stack is empty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662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isFull()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Check if stack is 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56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8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9AAD-D552-84E1-7F41-B30028FC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Stacks Are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75E356-8382-7336-F8C4-20B54ED0A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1820" y="1842746"/>
            <a:ext cx="70557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calls (Call Stack)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Expression evaluation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Undo / Redo operations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Backtracking (Maze, DFS)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Parenthesis checking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7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7882-155D-E13B-3EE3-C997B816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Stack prepares us for: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E72A-4B82-2DCC-F1FA-BAC09E431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parsing</a:t>
            </a:r>
          </a:p>
          <a:p>
            <a:r>
              <a:rPr lang="en-US" dirty="0"/>
              <a:t>Recursion internals</a:t>
            </a:r>
          </a:p>
          <a:p>
            <a:r>
              <a:rPr lang="en-US" dirty="0"/>
              <a:t>Compiler design</a:t>
            </a:r>
          </a:p>
          <a:p>
            <a:r>
              <a:rPr lang="en-US" dirty="0"/>
              <a:t>Real-world system programming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16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8AE8-E00A-2A29-001C-7E18A5A5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 Using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02865-FDA1-A57A-C7BF-93442451E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StackUsingArray.c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87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84C3-241A-1C1D-8F04-BDC427E9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DA2C-FEB5-5ECA-68F3-D5AE3B97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Linked List</a:t>
            </a:r>
            <a:r>
              <a:rPr lang="en-US" dirty="0"/>
              <a:t> is fundamental because it introduces dynamic memory and pointers.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39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BE10-0859-47C7-A089-CD3890D5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Linked Lists?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C503C-7CD1-7B86-8B07-60DA63F9E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size (unlike arrays)</a:t>
            </a:r>
          </a:p>
          <a:p>
            <a:r>
              <a:rPr lang="en-US" dirty="0"/>
              <a:t>Easy insertion and deletion</a:t>
            </a:r>
          </a:p>
          <a:p>
            <a:r>
              <a:rPr lang="en-US" dirty="0"/>
              <a:t>Efficient memory usage for unknown data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72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F7BC-365E-3C7B-35DA-5B8A6430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LinkedList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B868D-CEFF-5341-F523-82AD0565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stacks &amp; queues</a:t>
            </a:r>
          </a:p>
          <a:p>
            <a:r>
              <a:rPr lang="en-US" dirty="0"/>
              <a:t>Operating systems</a:t>
            </a:r>
          </a:p>
          <a:p>
            <a:r>
              <a:rPr lang="en-US" dirty="0"/>
              <a:t>Memory management</a:t>
            </a:r>
          </a:p>
          <a:p>
            <a:r>
              <a:rPr lang="en-US" dirty="0"/>
              <a:t>Real-time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75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91BB-34FF-1550-1428-344CF5AA7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Singly Linked List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74870-2007-2F58-C2EF-61BF8DB07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singly linked list</a:t>
            </a:r>
            <a:r>
              <a:rPr lang="en-US" dirty="0"/>
              <a:t> is a collection of nodes where each node contains: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Pointer to the next node</a:t>
            </a:r>
          </a:p>
          <a:p>
            <a:pPr marL="0" indent="0">
              <a:buNone/>
            </a:pPr>
            <a:r>
              <a:rPr lang="en-US" dirty="0"/>
              <a:t>struct Node {</a:t>
            </a:r>
          </a:p>
          <a:p>
            <a:pPr marL="0" indent="0">
              <a:buNone/>
            </a:pPr>
            <a:r>
              <a:rPr lang="en-US" dirty="0"/>
              <a:t>    int data;</a:t>
            </a:r>
          </a:p>
          <a:p>
            <a:pPr marL="0" indent="0">
              <a:buNone/>
            </a:pPr>
            <a:r>
              <a:rPr lang="en-US" dirty="0"/>
              <a:t>    struct Node *next;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38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3C7F-18FC-120D-F3F5-4586BA27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Singly Linked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6F9D-BC13-9D5B-37EA-B97E2B968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implement:</a:t>
            </a:r>
          </a:p>
          <a:p>
            <a:r>
              <a:rPr lang="en-US" dirty="0"/>
              <a:t>Insert at end</a:t>
            </a:r>
          </a:p>
          <a:p>
            <a:r>
              <a:rPr lang="en-US" dirty="0"/>
              <a:t>Traverse (display)</a:t>
            </a:r>
          </a:p>
          <a:p>
            <a:r>
              <a:rPr lang="en-US" dirty="0"/>
              <a:t>Delete a node by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45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8-34F2-E29A-7B53-1548081D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6B35-D435-2318-DDD7-6866BA71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SingleLinkedList.c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417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48B5-49DC-CA0C-1EC3-AF3A13D2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58F5-EEFD-9875-DA60-A990A65B5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Doubly Linked List (DLL)</a:t>
            </a:r>
            <a:r>
              <a:rPr lang="en-US" dirty="0"/>
              <a:t> is a linear data structure where each node contains: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Pointer to the </a:t>
            </a:r>
            <a:r>
              <a:rPr lang="en-US" b="1" dirty="0"/>
              <a:t>previous</a:t>
            </a:r>
            <a:r>
              <a:rPr lang="en-US" dirty="0"/>
              <a:t> node</a:t>
            </a:r>
          </a:p>
          <a:p>
            <a:r>
              <a:rPr lang="en-US" dirty="0"/>
              <a:t>Pointer to the </a:t>
            </a:r>
            <a:r>
              <a:rPr lang="en-US" b="1" dirty="0"/>
              <a:t>next</a:t>
            </a:r>
            <a:r>
              <a:rPr lang="en-US" dirty="0"/>
              <a:t> node</a:t>
            </a:r>
          </a:p>
          <a:p>
            <a:r>
              <a:rPr lang="en-US" dirty="0"/>
              <a:t>Structure of a node:</a:t>
            </a:r>
          </a:p>
          <a:p>
            <a:pPr marL="0" indent="0">
              <a:buNone/>
            </a:pPr>
            <a:r>
              <a:rPr lang="en-US" dirty="0"/>
              <a:t>struct Node {</a:t>
            </a:r>
          </a:p>
          <a:p>
            <a:pPr marL="0" indent="0">
              <a:buNone/>
            </a:pPr>
            <a:r>
              <a:rPr lang="en-US" dirty="0"/>
              <a:t>    int data;</a:t>
            </a:r>
          </a:p>
          <a:p>
            <a:pPr marL="0" indent="0">
              <a:buNone/>
            </a:pPr>
            <a:r>
              <a:rPr lang="en-US" dirty="0"/>
              <a:t>    struct Node *</a:t>
            </a:r>
            <a:r>
              <a:rPr lang="en-US" dirty="0" err="1"/>
              <a:t>prev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struct Node *next;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NULL &lt;- [10] &lt;-&gt; [20] &lt;-&gt; [30] -&gt; NULL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09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4491-D163-1B66-EABB-A1BA3B55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721ED-CA76-679E-9579-A871EB609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at end</a:t>
            </a:r>
          </a:p>
          <a:p>
            <a:r>
              <a:rPr lang="en-US" dirty="0"/>
              <a:t>Traverse forward</a:t>
            </a:r>
          </a:p>
          <a:p>
            <a:r>
              <a:rPr lang="en-US" dirty="0"/>
              <a:t>Traverse backward</a:t>
            </a:r>
          </a:p>
          <a:p>
            <a:r>
              <a:rPr lang="en-US" dirty="0"/>
              <a:t>Delete a node by value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DoublyLinkedList.c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981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865D-0E27-A50D-99E9-40B9231B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Doubly Linked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46CC-3074-412D-FFF6-749A77141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in both directions</a:t>
            </a:r>
          </a:p>
          <a:p>
            <a:r>
              <a:rPr lang="en-US" dirty="0"/>
              <a:t>Faster deletion (no need to keep track of previous node externally)</a:t>
            </a:r>
          </a:p>
          <a:p>
            <a:r>
              <a:rPr lang="en-US" dirty="0"/>
              <a:t>Used in:</a:t>
            </a:r>
          </a:p>
          <a:p>
            <a:pPr lvl="1"/>
            <a:r>
              <a:rPr lang="en-US" dirty="0"/>
              <a:t>Browser history (back/forward)</a:t>
            </a:r>
          </a:p>
          <a:p>
            <a:pPr lvl="1"/>
            <a:r>
              <a:rPr lang="en-US" dirty="0"/>
              <a:t>Undo/redo operations</a:t>
            </a:r>
          </a:p>
          <a:p>
            <a:pPr lvl="1"/>
            <a:r>
              <a:rPr lang="en-US" dirty="0"/>
              <a:t>Music playlist navigation</a:t>
            </a:r>
          </a:p>
          <a:p>
            <a:pPr lvl="1"/>
            <a:r>
              <a:rPr lang="en-US" dirty="0"/>
              <a:t>LRU cache implementations</a:t>
            </a:r>
          </a:p>
          <a:p>
            <a:r>
              <a:rPr lang="en-US" dirty="0"/>
              <a:t>It trades a little extra memory for much more flexibility compared to a singly linked list.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434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532</Words>
  <Application>Microsoft Office PowerPoint</Application>
  <PresentationFormat>Widescreen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Data Structures in C</vt:lpstr>
      <vt:lpstr>Data structures</vt:lpstr>
      <vt:lpstr>Common Basic Data Structures in C</vt:lpstr>
      <vt:lpstr>Stack</vt:lpstr>
      <vt:lpstr>Stack Operations</vt:lpstr>
      <vt:lpstr>Where Stacks Are Used</vt:lpstr>
      <vt:lpstr>Understanding Stack prepares us for:</vt:lpstr>
      <vt:lpstr>Example: Stack Using Array</vt:lpstr>
      <vt:lpstr>Linked List</vt:lpstr>
      <vt:lpstr>Why Linked Lists? </vt:lpstr>
      <vt:lpstr>LinkedList Usage</vt:lpstr>
      <vt:lpstr>Singly Linked List </vt:lpstr>
      <vt:lpstr>Operations on Singly Linked List</vt:lpstr>
      <vt:lpstr>Code</vt:lpstr>
      <vt:lpstr>Doubly Linked List</vt:lpstr>
      <vt:lpstr>Operations Implemented</vt:lpstr>
      <vt:lpstr>Advantages of Doubly Linked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10</cp:revision>
  <dcterms:created xsi:type="dcterms:W3CDTF">2026-01-20T09:04:58Z</dcterms:created>
  <dcterms:modified xsi:type="dcterms:W3CDTF">2026-01-20T09:19:25Z</dcterms:modified>
</cp:coreProperties>
</file>