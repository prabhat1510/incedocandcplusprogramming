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2314" autoAdjust="0"/>
  </p:normalViewPr>
  <p:slideViewPr>
    <p:cSldViewPr snapToGrid="0">
      <p:cViewPr varScale="1">
        <p:scale>
          <a:sx n="61" d="100"/>
          <a:sy n="61" d="100"/>
        </p:scale>
        <p:origin x="15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6AD58B-77D0-445C-B4E6-9272F08606F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C7751A-6962-4C3D-883B-6F2E8DAC1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657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Explanation:</a:t>
            </a:r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 x = 10;</a:t>
            </a:r>
            <a:r>
              <a:rPr lang="en-US" dirty="0"/>
              <a:t> → normal variable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 *p;</a:t>
            </a:r>
            <a:r>
              <a:rPr lang="en-US" dirty="0"/>
              <a:t> → pointer to int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 = &amp;x;</a:t>
            </a:r>
            <a:r>
              <a:rPr lang="en-US" dirty="0"/>
              <a:t> →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en-US" dirty="0"/>
              <a:t> gives address of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*p</a:t>
            </a:r>
            <a:r>
              <a:rPr lang="en-US" dirty="0"/>
              <a:t> → dereferencing (access value at that address)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7751A-6962-4C3D-883B-6F2E8DAC150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04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D9DC0-A10F-9540-910B-47C82CCF7D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6F385-BAE6-090B-FE02-B20C4A8502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BFBA2-600C-9B08-A4E0-6139DA6FD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4B173-85C2-48E3-90D9-907DF8FCC830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AAEA5-503C-7078-0DC2-66AE0BF22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801C6-9B1D-769E-5D97-8044FB79B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FAE60-A5B9-4133-BB82-423947404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889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BFD3E-1171-C3FE-171E-22D7C498F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25737-1326-7F66-970B-2B2F450FA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05C59-4531-865D-6319-9E6E6E441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4B173-85C2-48E3-90D9-907DF8FCC830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47348-A877-7091-9E5E-37A2BCCA3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C0B83-66E6-4F48-BBFB-B532C4A8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FAE60-A5B9-4133-BB82-423947404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60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A55FB-9393-33FA-A64C-86B7A6366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23DA45-00CB-F2EE-F6F2-C1292C565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B16FA-B335-FCF6-3E66-A53CE348F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4B173-85C2-48E3-90D9-907DF8FCC830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9DC4F-855F-AF4F-3C7C-D38AA6504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DBF38-C65A-6E31-BA2E-136A6120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FAE60-A5B9-4133-BB82-423947404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3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79A5-4F60-4A8D-D2B5-7A7044201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DCF82-43A0-252B-ED56-D6B7A2C3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6CFFFE-F3F0-30DC-ABC8-6864B743A2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6E882-0DBA-5DB7-3A35-4F58B4349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4B173-85C2-48E3-90D9-907DF8FCC830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F36E07-7DBB-68AF-EE27-DB5C0F00E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C2DBE5-89F6-8F95-6C1B-59EFE9854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FAE60-A5B9-4133-BB82-423947404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964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677DC-D836-C15A-FDDC-7F1B85A4E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6D0E8-DC9B-551D-E2F6-23BA871ED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F1A7D2-E1ED-D48E-2A4E-2EBB8B75FC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EF0F78-9D01-C4BD-266E-C460E4E12A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43225A-B598-5745-EBCF-92098BA06B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55C3E3-18D4-1725-E63D-AAEF99FDC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4B173-85C2-48E3-90D9-907DF8FCC830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C95924-9B75-BAB1-333E-E7FCAA20D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E731C3-D58B-C437-FCD8-31CD005C2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FAE60-A5B9-4133-BB82-423947404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387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F1006-881D-5A8F-B064-48C4E17EA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955E08-1D12-44FA-7C72-D5000F32B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4B173-85C2-48E3-90D9-907DF8FCC830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ABDEAE-C7CC-DD93-3D76-182859196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B3DAE5-E521-4A5C-D82D-A301DA54F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FAE60-A5B9-4133-BB82-423947404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158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5FC490-4790-5DBB-FB9E-61A1D1F1D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4B173-85C2-48E3-90D9-907DF8FCC830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6E6A57-047F-5233-71DB-A3FC18520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A6273-F1DA-0D7D-3046-42236F4E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FAE60-A5B9-4133-BB82-423947404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839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E3ED5-1761-26B7-6F0D-C10950B82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4A554-88A5-0533-E713-D34201DE0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31F88-EFF5-184C-BB82-37F335F980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8D5B2-3DAA-7D90-9423-4D20C585F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4B173-85C2-48E3-90D9-907DF8FCC830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67075-CA51-B3C8-CFD4-91B9ED46D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9C24A2-79F6-CA7E-FE01-4F9BB1E8C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FAE60-A5B9-4133-BB82-423947404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237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5E94B-7F66-5C83-DF2D-75903A048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810E17-066C-BE5D-C183-69FBE58C19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99A45A-559A-14A8-659F-9B463D5846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F2400-84FD-8F4A-2FC4-62B0CED88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4B173-85C2-48E3-90D9-907DF8FCC830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26B7A6-21FD-7552-5B9B-3A485A15C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ED1B23-EEC2-4D62-1145-6EF7A5187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FAE60-A5B9-4133-BB82-423947404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252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C332-BEDB-8018-7370-4F9E5DB8A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F4FC86-3987-BFEF-55EB-05FEE9A46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B299D-82F8-A640-1E87-8CD152AC4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4B173-85C2-48E3-90D9-907DF8FCC830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4BA32-2225-821A-C72C-9D42C2BDA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70724-F360-0711-FEC6-A06D80C9F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FAE60-A5B9-4133-BB82-423947404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106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95391B-992A-580D-2ECA-B914FB1A8C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A9B197-4F3E-02DE-BB58-09BF3B2EB8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D2337-79C0-832C-418D-269981184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4B173-85C2-48E3-90D9-907DF8FCC830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DBF69-8D04-4249-6312-34F3ED749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11004-4A22-6396-E110-A4AD9CE0F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FAE60-A5B9-4133-BB82-423947404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356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F6D096-DFA3-7D20-288E-CF5887A5B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236E0-18B8-D41F-328A-7DB355809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CC7D3-B524-2D83-3D35-D48BAD0619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54B173-85C2-48E3-90D9-907DF8FCC830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F2CC1-9033-E735-711B-57DD3CC384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9393A-71EB-78EA-0E46-37DBD61160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FAE60-A5B9-4133-BB82-423947404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077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9A671-EA2F-0690-8DB3-8C761F24FD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Pointers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0B153B-4865-4733-8246-F0B4E59662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997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20D1E-D81C-E480-0E36-F5C5AB02D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Pointer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BFC6F-8642-E1C7-3AC3-11F9C2E68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Declaration, Dereferencing, Address-of Operator</a:t>
            </a:r>
          </a:p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int x = 10;</a:t>
            </a:r>
          </a:p>
          <a:p>
            <a:pPr marL="0" indent="0">
              <a:buNone/>
            </a:pPr>
            <a:r>
              <a:rPr lang="en-US" dirty="0"/>
              <a:t>    int *p = &amp;x;   // p stores the address of x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("Value of x: %d\n", x);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("Address of x: %p\n", &amp;x);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("Value stored in p (address of x): %p\n", p);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("Value at address p points to: %d\n", *p);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0900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23838-65C5-DBEC-4DA7-CED71A88D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Pointer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E600E-7B7F-ECA5-F907-D20A56337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Memory view:</a:t>
            </a:r>
          </a:p>
          <a:p>
            <a:pPr marL="0" indent="0">
              <a:buNone/>
            </a:pPr>
            <a:r>
              <a:rPr lang="en-US" dirty="0"/>
              <a:t>x   → 10      (at address 0x100)</a:t>
            </a:r>
          </a:p>
          <a:p>
            <a:pPr marL="0" indent="0">
              <a:buNone/>
            </a:pPr>
            <a:r>
              <a:rPr lang="en-US" dirty="0"/>
              <a:t>p   → 0x100   (points to x)</a:t>
            </a:r>
          </a:p>
          <a:p>
            <a:pPr marL="0" indent="0">
              <a:buNone/>
            </a:pPr>
            <a:r>
              <a:rPr lang="en-US" dirty="0"/>
              <a:t>*p  → 10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7484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A2CCB-CFA9-3CF5-D42F-E3B4B2A93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Pointer Arithmetic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ECE98-7BF8-F7D4-1793-888270F58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dirty="0"/>
              <a:t>Pointer arithmetic moves by </a:t>
            </a:r>
            <a:r>
              <a:rPr lang="en-US" b="1" dirty="0"/>
              <a:t>data type size</a:t>
            </a:r>
            <a:r>
              <a:rPr lang="en-US" dirty="0"/>
              <a:t>, not by 1 byte always.</a:t>
            </a:r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int </a:t>
            </a:r>
            <a:r>
              <a:rPr lang="en-IN" dirty="0" err="1"/>
              <a:t>arr</a:t>
            </a:r>
            <a:r>
              <a:rPr lang="en-IN" dirty="0"/>
              <a:t>[] = {10, 20, 30, 40};</a:t>
            </a:r>
          </a:p>
          <a:p>
            <a:pPr marL="0" indent="0">
              <a:buNone/>
            </a:pPr>
            <a:r>
              <a:rPr lang="en-IN" dirty="0"/>
              <a:t>    int *p = </a:t>
            </a:r>
            <a:r>
              <a:rPr lang="en-IN" dirty="0" err="1"/>
              <a:t>arr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("%d\n", *p);       // 10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("%d\n", *(p+1));   // 20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("%d\n", *(p+2));   // 30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US" dirty="0"/>
              <a:t>If int is 4 bytes:</a:t>
            </a:r>
          </a:p>
          <a:p>
            <a:pPr marL="0" indent="0">
              <a:buNone/>
            </a:pPr>
            <a:r>
              <a:rPr lang="en-IN" dirty="0"/>
              <a:t>p     → </a:t>
            </a:r>
            <a:r>
              <a:rPr lang="en-IN" dirty="0" err="1"/>
              <a:t>arr</a:t>
            </a:r>
            <a:r>
              <a:rPr lang="en-IN" dirty="0"/>
              <a:t>[0]</a:t>
            </a:r>
          </a:p>
          <a:p>
            <a:pPr marL="0" indent="0">
              <a:buNone/>
            </a:pPr>
            <a:r>
              <a:rPr lang="en-IN" dirty="0"/>
              <a:t>p+1   → </a:t>
            </a:r>
            <a:r>
              <a:rPr lang="en-IN" dirty="0" err="1"/>
              <a:t>arr</a:t>
            </a:r>
            <a:r>
              <a:rPr lang="en-IN" dirty="0"/>
              <a:t>[1]</a:t>
            </a:r>
          </a:p>
          <a:p>
            <a:pPr marL="0" indent="0">
              <a:buNone/>
            </a:pPr>
            <a:r>
              <a:rPr lang="en-IN" dirty="0"/>
              <a:t>p+2   → </a:t>
            </a:r>
            <a:r>
              <a:rPr lang="en-IN" dirty="0" err="1"/>
              <a:t>arr</a:t>
            </a:r>
            <a:r>
              <a:rPr lang="en-IN" dirty="0"/>
              <a:t>[2]</a:t>
            </a:r>
          </a:p>
          <a:p>
            <a:pPr marL="0" indent="0">
              <a:buNone/>
            </a:pPr>
            <a:r>
              <a:rPr lang="en-US" dirty="0"/>
              <a:t>So pointer arithmetic automatically jumps element-wise.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0319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6BE9C-C5F3-A40E-20FE-AE7423AF6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Pointers and Arrays Relationship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BED83-AB93-A619-8257-7BD0309E9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Array name itself is a pointer to first element.</a:t>
            </a:r>
          </a:p>
          <a:p>
            <a:pPr marL="0" indent="0">
              <a:buNone/>
            </a:pPr>
            <a:r>
              <a:rPr lang="pt-BR" dirty="0"/>
              <a:t>#include &lt;stdio.h&gt;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int main() {</a:t>
            </a:r>
          </a:p>
          <a:p>
            <a:pPr marL="0" indent="0">
              <a:buNone/>
            </a:pPr>
            <a:r>
              <a:rPr lang="pt-BR" dirty="0"/>
              <a:t>    int a[3] = {5, 10, 15};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    printf("%d\n", a[0]);      // 5</a:t>
            </a:r>
          </a:p>
          <a:p>
            <a:pPr marL="0" indent="0">
              <a:buNone/>
            </a:pPr>
            <a:r>
              <a:rPr lang="pt-BR" dirty="0"/>
              <a:t>    printf("%d\n", *a);        // 5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    printf("%d\n", a[1]);      // 10</a:t>
            </a:r>
          </a:p>
          <a:p>
            <a:pPr marL="0" indent="0">
              <a:buNone/>
            </a:pPr>
            <a:r>
              <a:rPr lang="pt-BR" dirty="0"/>
              <a:t>    printf("%d\n", *(a+1));    // 10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    return 0;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  <a:p>
            <a:pPr marL="0" indent="0">
              <a:buNone/>
            </a:pPr>
            <a:r>
              <a:rPr lang="en-IN" dirty="0"/>
              <a:t>Important rule:</a:t>
            </a:r>
          </a:p>
          <a:p>
            <a:pPr marL="0" indent="0">
              <a:buNone/>
            </a:pPr>
            <a:r>
              <a:rPr lang="en-IN" dirty="0"/>
              <a:t>a[</a:t>
            </a:r>
            <a:r>
              <a:rPr lang="en-IN" dirty="0" err="1"/>
              <a:t>i</a:t>
            </a:r>
            <a:r>
              <a:rPr lang="en-IN" dirty="0"/>
              <a:t>]  ≡  *(a + </a:t>
            </a:r>
            <a:r>
              <a:rPr lang="en-IN" dirty="0" err="1"/>
              <a:t>i</a:t>
            </a: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4527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3C730-708F-758C-9A53-F77902D71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Pointers and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13A4A-F12A-56AA-4F79-7B6EB18E4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dirty="0"/>
              <a:t>In C, strings are character arrays terminated by '\0’.</a:t>
            </a:r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char str[] = "Hello";</a:t>
            </a:r>
          </a:p>
          <a:p>
            <a:pPr marL="0" indent="0">
              <a:buNone/>
            </a:pPr>
            <a:r>
              <a:rPr lang="en-IN" dirty="0"/>
              <a:t>    char *p = str;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while (*p != '\0')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("%c ", *p);</a:t>
            </a:r>
          </a:p>
          <a:p>
            <a:pPr marL="0" indent="0">
              <a:buNone/>
            </a:pPr>
            <a:r>
              <a:rPr lang="en-IN" dirty="0"/>
              <a:t>        p++;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Memory:</a:t>
            </a:r>
          </a:p>
          <a:p>
            <a:pPr marL="0" indent="0">
              <a:buNone/>
            </a:pPr>
            <a:r>
              <a:rPr lang="pt-BR" dirty="0"/>
              <a:t>H  e  l  l  o  \0</a:t>
            </a:r>
          </a:p>
          <a:p>
            <a:pPr marL="0" indent="0">
              <a:buNone/>
            </a:pPr>
            <a:r>
              <a:rPr lang="pt-BR" dirty="0"/>
              <a:t>^</a:t>
            </a:r>
          </a:p>
          <a:p>
            <a:pPr marL="0" indent="0">
              <a:buNone/>
            </a:pPr>
            <a:r>
              <a:rPr lang="pt-BR" dirty="0"/>
              <a:t>p</a:t>
            </a:r>
          </a:p>
          <a:p>
            <a:pPr marL="0" indent="0">
              <a:buNone/>
            </a:pPr>
            <a:r>
              <a:rPr lang="en-US" dirty="0"/>
              <a:t>Each p++ moves to next character.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3678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361E7-1B57-A9D8-7FD4-958F9F2A8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 Pointers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63765-3188-CAF1-1EE7-78A102617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dirty="0"/>
              <a:t>A function pointer stores the address of a function.</a:t>
            </a:r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add(int a, int b) {</a:t>
            </a:r>
          </a:p>
          <a:p>
            <a:pPr marL="0" indent="0">
              <a:buNone/>
            </a:pPr>
            <a:r>
              <a:rPr lang="en-IN" dirty="0"/>
              <a:t>    return a + b;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int (*</a:t>
            </a:r>
            <a:r>
              <a:rPr lang="en-IN" dirty="0" err="1"/>
              <a:t>fp</a:t>
            </a:r>
            <a:r>
              <a:rPr lang="en-IN" dirty="0"/>
              <a:t>)(int, int);   // function pointer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fp</a:t>
            </a:r>
            <a:r>
              <a:rPr lang="en-IN" dirty="0"/>
              <a:t> = add;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int result = </a:t>
            </a:r>
            <a:r>
              <a:rPr lang="en-IN" dirty="0" err="1"/>
              <a:t>fp</a:t>
            </a:r>
            <a:r>
              <a:rPr lang="en-IN" dirty="0"/>
              <a:t>(5, 3);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("Result: %d\n", result);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US" dirty="0"/>
              <a:t>Used in:</a:t>
            </a:r>
          </a:p>
          <a:p>
            <a:pPr marL="457200" lvl="1" indent="0">
              <a:buNone/>
            </a:pPr>
            <a:r>
              <a:rPr lang="en-US" dirty="0"/>
              <a:t>Callbacks</a:t>
            </a:r>
          </a:p>
          <a:p>
            <a:pPr marL="457200" lvl="1" indent="0">
              <a:buNone/>
            </a:pPr>
            <a:r>
              <a:rPr lang="en-US" dirty="0"/>
              <a:t>Event handlers</a:t>
            </a:r>
          </a:p>
          <a:p>
            <a:pPr marL="457200" lvl="1" indent="0">
              <a:buNone/>
            </a:pPr>
            <a:r>
              <a:rPr lang="en-US" dirty="0"/>
              <a:t>Dynamic behavior (strategy pattern in C)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0626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83AE8-434A-7BEC-5DF3-9A35A6EBA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Dynamic Memory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CB07F-35DE-07A1-393E-3EFEC7D74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Using Heap Memory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86A342-AF4E-3B0E-2E6B-94DBF02CA7F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20484660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12862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798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malloc()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Allocate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4944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calloc()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Allocate &amp; initialize to zero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9107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realloc()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Resize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174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free()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Release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86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0634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12B30-F2C1-D637-232B-1A5F2C57A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45EC8-1085-3308-0F6B-E21987810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Dynamic Memory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5CB58-97C6-8AB6-7278-5AFB3893C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Using Heap Memory</a:t>
            </a:r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stdlib.h</a:t>
            </a:r>
            <a:r>
              <a:rPr lang="en-IN" dirty="0"/>
              <a:t>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int *</a:t>
            </a:r>
            <a:r>
              <a:rPr lang="en-IN" dirty="0" err="1"/>
              <a:t>arr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int n = 5;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arr</a:t>
            </a:r>
            <a:r>
              <a:rPr lang="en-IN" dirty="0"/>
              <a:t> = (int*)malloc(n * </a:t>
            </a:r>
            <a:r>
              <a:rPr lang="en-IN" dirty="0" err="1"/>
              <a:t>sizeof</a:t>
            </a:r>
            <a:r>
              <a:rPr lang="en-IN" dirty="0"/>
              <a:t>(int));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for(int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n;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arr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 = (i+1) * 10;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for(int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n;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("%d ", </a:t>
            </a:r>
            <a:r>
              <a:rPr lang="en-IN" dirty="0" err="1"/>
              <a:t>arr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free(</a:t>
            </a:r>
            <a:r>
              <a:rPr lang="en-IN" dirty="0" err="1"/>
              <a:t>arr</a:t>
            </a:r>
            <a:r>
              <a:rPr lang="en-IN" dirty="0"/>
              <a:t>);  // prevent memory leak</a:t>
            </a:r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3638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5E035-BDA8-BC7C-8B1A-80AE9DBB7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E7BBF-DDB0-6131-1F49-081044E98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Dynamic Memory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545AE-37E6-246C-7C6A-C51CA36B5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Using </a:t>
            </a:r>
            <a:r>
              <a:rPr lang="en-IN" dirty="0" err="1"/>
              <a:t>calloc</a:t>
            </a:r>
            <a:r>
              <a:rPr lang="en-IN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int *p = (int*)</a:t>
            </a:r>
            <a:r>
              <a:rPr lang="en-US" dirty="0" err="1"/>
              <a:t>calloc</a:t>
            </a:r>
            <a:r>
              <a:rPr lang="en-US" dirty="0"/>
              <a:t>(5, </a:t>
            </a:r>
            <a:r>
              <a:rPr lang="en-US" dirty="0" err="1"/>
              <a:t>sizeof</a:t>
            </a:r>
            <a:r>
              <a:rPr lang="en-US" dirty="0"/>
              <a:t>(int));  // all initialized to 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Using </a:t>
            </a:r>
            <a:r>
              <a:rPr lang="en-IN" dirty="0" err="1"/>
              <a:t>realloc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US" dirty="0"/>
              <a:t>p = (int*)</a:t>
            </a:r>
            <a:r>
              <a:rPr lang="en-US" dirty="0" err="1"/>
              <a:t>realloc</a:t>
            </a:r>
            <a:r>
              <a:rPr lang="en-US" dirty="0"/>
              <a:t>(p, 10 * </a:t>
            </a:r>
            <a:r>
              <a:rPr lang="en-US" dirty="0" err="1"/>
              <a:t>sizeof</a:t>
            </a:r>
            <a:r>
              <a:rPr lang="en-US" dirty="0"/>
              <a:t>(int));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7352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86E44-ED4E-CF71-BF54-0E3AB1FDE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Pointers Matter in Real Systems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3BFED-228D-B7E0-11AD-FA459E190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OS kernels</a:t>
            </a:r>
          </a:p>
          <a:p>
            <a:r>
              <a:rPr lang="en-IN" dirty="0"/>
              <a:t>Device drivers</a:t>
            </a:r>
          </a:p>
          <a:p>
            <a:r>
              <a:rPr lang="en-IN" dirty="0"/>
              <a:t>Game engines</a:t>
            </a:r>
          </a:p>
          <a:p>
            <a:r>
              <a:rPr lang="en-IN" dirty="0"/>
              <a:t>Embedded systems</a:t>
            </a:r>
          </a:p>
          <a:p>
            <a:r>
              <a:rPr lang="en-IN" dirty="0"/>
              <a:t>Performance-critical code</a:t>
            </a:r>
          </a:p>
          <a:p>
            <a:r>
              <a:rPr lang="en-IN" dirty="0"/>
              <a:t>Custom memory managers</a:t>
            </a:r>
          </a:p>
          <a:p>
            <a:pPr marL="0" indent="0">
              <a:buNone/>
            </a:pPr>
            <a:r>
              <a:rPr lang="en-US" dirty="0"/>
              <a:t>Without pointers:</a:t>
            </a:r>
          </a:p>
          <a:p>
            <a:r>
              <a:rPr lang="en-US" dirty="0"/>
              <a:t>No dynamic arrays</a:t>
            </a:r>
          </a:p>
          <a:p>
            <a:r>
              <a:rPr lang="en-US" dirty="0"/>
              <a:t>No linked lists</a:t>
            </a:r>
          </a:p>
          <a:p>
            <a:r>
              <a:rPr lang="en-US" dirty="0"/>
              <a:t>No trees, graphs</a:t>
            </a:r>
          </a:p>
          <a:p>
            <a:r>
              <a:rPr lang="en-US" dirty="0"/>
              <a:t>No efficient memory handling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3872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828</Words>
  <Application>Microsoft Office PowerPoint</Application>
  <PresentationFormat>Widescreen</PresentationFormat>
  <Paragraphs>155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Office Theme</vt:lpstr>
      <vt:lpstr>Pointers</vt:lpstr>
      <vt:lpstr>Pointer Basics</vt:lpstr>
      <vt:lpstr>Pointer Basics</vt:lpstr>
      <vt:lpstr>Pointer Arithmetic</vt:lpstr>
      <vt:lpstr>Pointers and Arrays Relationship</vt:lpstr>
      <vt:lpstr>Pointers and Strings</vt:lpstr>
      <vt:lpstr>Function Pointers Basics</vt:lpstr>
      <vt:lpstr>Dynamic Memory Allocation</vt:lpstr>
      <vt:lpstr>Dynamic Memory Allocation</vt:lpstr>
      <vt:lpstr>Dynamic Memory Allocation</vt:lpstr>
      <vt:lpstr>Why Pointers Matter in Real Systems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Prabhat Chandra</dc:creator>
  <cp:lastModifiedBy>Prabhat Chandra</cp:lastModifiedBy>
  <cp:revision>1</cp:revision>
  <dcterms:created xsi:type="dcterms:W3CDTF">2026-01-19T03:39:20Z</dcterms:created>
  <dcterms:modified xsi:type="dcterms:W3CDTF">2026-01-19T03:40:56Z</dcterms:modified>
</cp:coreProperties>
</file>