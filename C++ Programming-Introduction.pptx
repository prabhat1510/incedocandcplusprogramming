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62CA0-F1A4-136B-74EB-04A077885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3B9D6-6815-BD2B-BF83-E375F2B60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62195-E81B-848A-545D-4E5E6E18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6392-EF68-4A75-9D7A-E1F108FDE33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9CC63-D935-BC97-7438-BB09017E3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02813-BE1F-9356-474F-6EE59380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5E76-1308-4528-B805-01F008F4C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4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66E07-8B4B-577E-18E0-C0EB14FE7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60ABC-BF9B-327A-FBBA-0EC1ED776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E1BD5-0004-28F6-EBAD-9B58F5C8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6392-EF68-4A75-9D7A-E1F108FDE33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95B96-CE6D-5DA6-47CA-0F4C49358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F6525-F06D-43E2-55E8-841D7470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5E76-1308-4528-B805-01F008F4C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913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0AAB2-3754-1F31-85F4-413946D22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459F0-D95C-B673-8EA3-D78B45563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F99EE-65BE-27B6-8411-530CBA0B2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6392-EF68-4A75-9D7A-E1F108FDE33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D6760-A978-F27D-0154-BBB1C0074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746CF-E03F-2E6D-2DE9-1FC80C4A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5E76-1308-4528-B805-01F008F4C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833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68784-11EA-A1AC-7B1D-23D1CC037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4FBBE-A9A9-E383-E2C4-0284D79BC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64845-3383-02A5-F83A-4C5882B92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FDEAD-888C-9CB7-9BBD-F7F53BED2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6392-EF68-4A75-9D7A-E1F108FDE33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39F6C-DBEA-C066-B2A6-2026BEBEB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4F550-6CA2-6D42-2422-D0087B17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5E76-1308-4528-B805-01F008F4C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31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0349-6351-F5DF-75B3-800529F4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1F46C-12D9-3701-DD01-89F5F1396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D74E5-392C-6012-21AA-FD1AF0D59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BCEFE-106C-9A68-95CC-1B2432F8C3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458DE-4425-59A0-82DE-B76A4FC8A6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0DA10B-9C26-D500-4951-3DE299C1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6392-EF68-4A75-9D7A-E1F108FDE33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2A1E4-3347-5683-43F4-82D1087B9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B0EF0C-F246-7864-8E02-4728FE7C7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5E76-1308-4528-B805-01F008F4C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84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DAF73-F0B0-0168-D46B-1A197C402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283C5E-F06A-F44F-1735-EEAC118C4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6392-EF68-4A75-9D7A-E1F108FDE33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8B5BE0-14E3-7D83-7A2C-8567DA72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4CB62-B8AE-AA80-6C69-2D8F8740D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5E76-1308-4528-B805-01F008F4C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158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B0D388-E149-031E-4EA6-35C7F56C5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6392-EF68-4A75-9D7A-E1F108FDE33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8A6B6C-6E68-A917-70A2-3C2247B8D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F68FE-EEB4-436F-5828-4188895E2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5E76-1308-4528-B805-01F008F4C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350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88CC-579F-AFF5-AC29-1E2CE015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F449F-6DD8-EF1A-3509-7D8005BC9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3E2E0-B0E1-105D-B35D-B1BF7EA59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2A13C-43A0-F795-073B-DB025491C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6392-EF68-4A75-9D7A-E1F108FDE33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32122-8D1A-7501-2D3E-F254368BC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B8FCC-ED35-DC57-8A71-63C947B9C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5E76-1308-4528-B805-01F008F4C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343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89E0-7D1E-2E5A-2033-C639C0D5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041E4A-B507-EED1-038A-6331755C8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A016F-B5D5-9537-8D8B-00912ACC6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F3AB0-629D-C290-1FB2-94DA9A1DA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6392-EF68-4A75-9D7A-E1F108FDE33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885B4-0DB6-AA97-6DD9-FED2B9F4F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6348F-C6E8-B59A-E680-8221B4F2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5E76-1308-4528-B805-01F008F4C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990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92A3A-70E8-72B3-845A-9A4244431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A4893-104F-E6EF-3BAE-DD8822086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C99B3-8116-37F4-BB2D-B072F5964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6392-EF68-4A75-9D7A-E1F108FDE33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15D96-FC69-FB8B-C129-41DB296A0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3589E-BEEF-EE78-1B5B-DDA3CB696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5E76-1308-4528-B805-01F008F4C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50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F489AF-4AF9-1F31-697D-DFD5F2BF90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9BE96-E6E5-4935-42AC-D8F6CD241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18FFD-5AFB-9904-3019-934448287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06392-EF68-4A75-9D7A-E1F108FDE33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BA055-7518-DF46-85F6-B9B5EF76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9C7E4-EB81-D4D5-BE02-2089AB3E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45E76-1308-4528-B805-01F008F4C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74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EAB3CA-0DE2-5AD8-D5AC-5315E7568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FB50F-E2AA-A7E8-CEDA-F0E65BA37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60280-2D36-B336-705D-59137146B5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06392-EF68-4A75-9D7A-E1F108FDE330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E8EBB-8A72-FDE7-C891-EACB075FE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BCB85-60FF-F9B1-942A-EC2FCA93BB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45E76-1308-4528-B805-01F008F4C2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264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AA806-DF41-78E7-E4AE-9869C34159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C++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DF5824-D2B9-8749-79C6-AA5E26390D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193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0C9D-79D8-1138-1EF6-89B240A8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 and C++ Difference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391699-C0BF-E551-6192-ECA3F57EF9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7993792"/>
              </p:ext>
            </p:extLst>
          </p:nvPr>
        </p:nvGraphicFramePr>
        <p:xfrm>
          <a:off x="838200" y="1762812"/>
          <a:ext cx="10515600" cy="3884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4338113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1175335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9779779"/>
                    </a:ext>
                  </a:extLst>
                </a:gridCol>
              </a:tblGrid>
              <a:tr h="43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C++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588461"/>
                  </a:ext>
                </a:extLst>
              </a:tr>
              <a:tr h="43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Paradigm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Procedural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Object-Oriented + Procedural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434886"/>
                  </a:ext>
                </a:extLst>
              </a:tr>
              <a:tr h="43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&amp; 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Separate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Combined using </a:t>
                      </a:r>
                      <a:r>
                        <a:rPr lang="en-IN" i="1"/>
                        <a:t>classes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157594"/>
                  </a:ext>
                </a:extLst>
              </a:tr>
              <a:tr h="43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Encapsulation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supported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Supported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005437"/>
                  </a:ext>
                </a:extLst>
              </a:tr>
              <a:tr h="43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Inheritance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169625"/>
                  </a:ext>
                </a:extLst>
              </a:tr>
              <a:tr h="43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Polymorphism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858855"/>
                  </a:ext>
                </a:extLst>
              </a:tr>
              <a:tr h="43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I/O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printf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scanf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cin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cout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0648"/>
                  </a:ext>
                </a:extLst>
              </a:tr>
              <a:tr h="43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malloc/free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new/delete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70968"/>
                  </a:ext>
                </a:extLst>
              </a:tr>
              <a:tr h="431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Safety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Less type-safe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More type-safe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844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10A79F7-A9F2-30A8-A255-74050F4E996D}"/>
              </a:ext>
            </a:extLst>
          </p:cNvPr>
          <p:cNvSpPr txBox="1"/>
          <p:nvPr/>
        </p:nvSpPr>
        <p:spPr>
          <a:xfrm>
            <a:off x="838200" y="5719336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 is function-centric.</a:t>
            </a:r>
            <a:br>
              <a:rPr lang="en-US" dirty="0"/>
            </a:br>
            <a:r>
              <a:rPr lang="en-US" dirty="0"/>
              <a:t>C++ is </a:t>
            </a:r>
            <a:r>
              <a:rPr lang="en-US" b="1" dirty="0"/>
              <a:t>object-centric</a:t>
            </a:r>
            <a:r>
              <a:rPr lang="en-US" dirty="0"/>
              <a:t> and models real-world entities using </a:t>
            </a:r>
            <a:r>
              <a:rPr lang="en-US" i="1" dirty="0"/>
              <a:t>classes</a:t>
            </a:r>
            <a:r>
              <a:rPr lang="en-US" dirty="0"/>
              <a:t> and </a:t>
            </a:r>
            <a:r>
              <a:rPr lang="en-US" i="1" dirty="0"/>
              <a:t>objects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972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75486-BCD8-A470-98F7-DACB43596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Namespace, </a:t>
            </a:r>
            <a:r>
              <a:rPr lang="en-US" dirty="0" err="1"/>
              <a:t>cin</a:t>
            </a:r>
            <a:r>
              <a:rPr lang="en-US" dirty="0"/>
              <a:t>, </a:t>
            </a:r>
            <a:r>
              <a:rPr lang="en-US" dirty="0" err="1"/>
              <a:t>cout</a:t>
            </a:r>
            <a:r>
              <a:rPr lang="en-US" dirty="0"/>
              <a:t>, Basic I/O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A90F0-9E33-1D10-D182-9A18DB5B9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age;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your age: ";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age;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"You entered: " &lt;&lt; age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r>
              <a:rPr lang="en-US" dirty="0"/>
              <a:t>std is a namespace containing C++ standard features.</a:t>
            </a:r>
          </a:p>
          <a:p>
            <a:r>
              <a:rPr lang="en-US" dirty="0" err="1"/>
              <a:t>cout</a:t>
            </a:r>
            <a:r>
              <a:rPr lang="en-US" dirty="0"/>
              <a:t> → output (console)</a:t>
            </a:r>
          </a:p>
          <a:p>
            <a:r>
              <a:rPr lang="en-US" dirty="0" err="1"/>
              <a:t>cin</a:t>
            </a:r>
            <a:r>
              <a:rPr lang="en-US" dirty="0"/>
              <a:t> → input (keyboard)</a:t>
            </a:r>
          </a:p>
          <a:p>
            <a:r>
              <a:rPr lang="en-US" dirty="0"/>
              <a:t>&lt;&lt; insertion operator</a:t>
            </a:r>
          </a:p>
          <a:p>
            <a:r>
              <a:rPr lang="en-US" dirty="0"/>
              <a:t>&gt;&gt; extraction operator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029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C5BC8-2362-ECB9-345A-F4453C85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0336D-6118-C8A5-EE00-FE879801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Namespace, </a:t>
            </a:r>
            <a:r>
              <a:rPr lang="en-US" dirty="0" err="1"/>
              <a:t>cin</a:t>
            </a:r>
            <a:r>
              <a:rPr lang="en-US" dirty="0"/>
              <a:t>, </a:t>
            </a:r>
            <a:r>
              <a:rPr lang="en-US" dirty="0" err="1"/>
              <a:t>cout</a:t>
            </a:r>
            <a:r>
              <a:rPr lang="en-US" dirty="0"/>
              <a:t>, Basic I/O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4150A-5C66-EA4C-6474-24540B18D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Without using namespace std;, you must write:</a:t>
            </a:r>
          </a:p>
          <a:p>
            <a:pPr marL="0" indent="0">
              <a:buNone/>
            </a:pPr>
            <a:r>
              <a:rPr lang="en-US" dirty="0"/>
              <a:t>std::</a:t>
            </a:r>
            <a:r>
              <a:rPr lang="en-US" dirty="0" err="1"/>
              <a:t>cout</a:t>
            </a:r>
            <a:r>
              <a:rPr lang="en-US" dirty="0"/>
              <a:t> &lt;&lt; "Hello";</a:t>
            </a:r>
          </a:p>
          <a:p>
            <a:pPr marL="0" indent="0">
              <a:buNone/>
            </a:pPr>
            <a:r>
              <a:rPr lang="en-US" dirty="0"/>
              <a:t>std::</a:t>
            </a:r>
            <a:r>
              <a:rPr lang="en-US" dirty="0" err="1"/>
              <a:t>cin</a:t>
            </a:r>
            <a:r>
              <a:rPr lang="en-US" dirty="0"/>
              <a:t> &gt;&gt; x;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824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C3BAF-EC24-5966-099F-D4B78DAAB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 vs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794C4-F5D2-3F14-058E-EAFAEEB9B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int x = 10;</a:t>
            </a:r>
          </a:p>
          <a:p>
            <a:pPr marL="0" indent="0">
              <a:buNone/>
            </a:pPr>
            <a:r>
              <a:rPr lang="en-IN" dirty="0"/>
              <a:t>    int* p = &amp;x;     // Pointer</a:t>
            </a:r>
          </a:p>
          <a:p>
            <a:pPr marL="0" indent="0">
              <a:buNone/>
            </a:pPr>
            <a:r>
              <a:rPr lang="en-IN" dirty="0"/>
              <a:t>    int&amp; r = x;      // Reference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"x = " &lt;&lt; x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"*p = " &lt;&lt; *p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"r = " &lt;&lt; r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 = 20;          // Changes x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"x after r=20: " &lt;&lt; x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7FB3BA-9104-C151-3F9B-83C14BA4B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253491"/>
              </p:ext>
            </p:extLst>
          </p:nvPr>
        </p:nvGraphicFramePr>
        <p:xfrm>
          <a:off x="4401532" y="1696940"/>
          <a:ext cx="7136878" cy="1463040"/>
        </p:xfrm>
        <a:graphic>
          <a:graphicData uri="http://schemas.openxmlformats.org/drawingml/2006/table">
            <a:tbl>
              <a:tblPr/>
              <a:tblGrid>
                <a:gridCol w="3568439">
                  <a:extLst>
                    <a:ext uri="{9D8B030D-6E8A-4147-A177-3AD203B41FA5}">
                      <a16:colId xmlns:a16="http://schemas.microsoft.com/office/drawing/2014/main" val="2235504155"/>
                    </a:ext>
                  </a:extLst>
                </a:gridCol>
                <a:gridCol w="3568439">
                  <a:extLst>
                    <a:ext uri="{9D8B030D-6E8A-4147-A177-3AD203B41FA5}">
                      <a16:colId xmlns:a16="http://schemas.microsoft.com/office/drawing/2014/main" val="2435352060"/>
                    </a:ext>
                  </a:extLst>
                </a:gridCol>
              </a:tblGrid>
              <a:tr h="359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Pointer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Reference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056463"/>
                  </a:ext>
                </a:extLst>
              </a:tr>
              <a:tr h="359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be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Must refer to an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950133"/>
                  </a:ext>
                </a:extLst>
              </a:tr>
              <a:tr h="359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Needs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*</a:t>
                      </a:r>
                      <a:r>
                        <a:rPr lang="en-IN"/>
                        <a:t> to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Acts like alias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782790"/>
                  </a:ext>
                </a:extLst>
              </a:tr>
              <a:tr h="359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change 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Cannot rebind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4093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C0D458E-3398-97BD-71B0-8B9FB277C665}"/>
              </a:ext>
            </a:extLst>
          </p:cNvPr>
          <p:cNvSpPr txBox="1"/>
          <p:nvPr/>
        </p:nvSpPr>
        <p:spPr>
          <a:xfrm>
            <a:off x="4401532" y="369802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Reference = another name for same variable.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317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76332-F885-4F4A-3136-45A50897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7E7ED-FA09-86B0-87A6-924C69D5F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/>
              <a:t>Same function name, different parameters.</a:t>
            </a:r>
          </a:p>
          <a:p>
            <a:pPr marL="0" indent="0">
              <a:buNone/>
            </a:pPr>
            <a:r>
              <a:rPr lang="en-IN"/>
              <a:t>#include &lt;iostream&gt;</a:t>
            </a:r>
          </a:p>
          <a:p>
            <a:pPr marL="0" indent="0">
              <a:buNone/>
            </a:pPr>
            <a:r>
              <a:rPr lang="en-IN"/>
              <a:t>using namespace std;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int add(int a, int b) {</a:t>
            </a:r>
          </a:p>
          <a:p>
            <a:pPr marL="0" indent="0">
              <a:buNone/>
            </a:pPr>
            <a:r>
              <a:rPr lang="en-IN"/>
              <a:t>    return a + b;</a:t>
            </a:r>
          </a:p>
          <a:p>
            <a:pPr marL="0" indent="0">
              <a:buNone/>
            </a:pPr>
            <a:r>
              <a:rPr lang="en-IN"/>
              <a:t>}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double add(double a, double b) {</a:t>
            </a:r>
          </a:p>
          <a:p>
            <a:pPr marL="0" indent="0">
              <a:buNone/>
            </a:pPr>
            <a:r>
              <a:rPr lang="en-IN"/>
              <a:t>    return a + b;</a:t>
            </a:r>
          </a:p>
          <a:p>
            <a:pPr marL="0" indent="0">
              <a:buNone/>
            </a:pPr>
            <a:r>
              <a:rPr lang="en-IN"/>
              <a:t>}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int main() {</a:t>
            </a:r>
          </a:p>
          <a:p>
            <a:pPr marL="0" indent="0">
              <a:buNone/>
            </a:pPr>
            <a:r>
              <a:rPr lang="en-IN"/>
              <a:t>    cout &lt;&lt; add(10, 20) &lt;&lt; endl;</a:t>
            </a:r>
          </a:p>
          <a:p>
            <a:pPr marL="0" indent="0">
              <a:buNone/>
            </a:pPr>
            <a:r>
              <a:rPr lang="en-IN"/>
              <a:t>    cout &lt;&lt; add(2.5, 3.5) &lt;&lt; endl;</a:t>
            </a:r>
          </a:p>
          <a:p>
            <a:pPr marL="0" indent="0">
              <a:buNone/>
            </a:pPr>
            <a:r>
              <a:rPr lang="en-IN"/>
              <a:t>    return 0;</a:t>
            </a:r>
          </a:p>
          <a:p>
            <a:pPr marL="0" indent="0">
              <a:buNone/>
            </a:pPr>
            <a:r>
              <a:rPr lang="en-IN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C1DE5-26A4-4053-2512-AC3E4F73DB15}"/>
              </a:ext>
            </a:extLst>
          </p:cNvPr>
          <p:cNvSpPr txBox="1"/>
          <p:nvPr/>
        </p:nvSpPr>
        <p:spPr>
          <a:xfrm>
            <a:off x="4715759" y="317127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Compiler chooses correct function based on arguments.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4387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C14A3-99AE-328C-FCA2-28233C509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Default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975F7-9FE7-1CBD-D279-2E0DDFA65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/>
              <a:t>#include &lt;iostream&gt;</a:t>
            </a:r>
          </a:p>
          <a:p>
            <a:pPr marL="0" indent="0">
              <a:buNone/>
            </a:pPr>
            <a:r>
              <a:rPr lang="en-IN"/>
              <a:t>using namespace std;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void greet(string name = "Guest") {</a:t>
            </a:r>
          </a:p>
          <a:p>
            <a:pPr marL="0" indent="0">
              <a:buNone/>
            </a:pPr>
            <a:r>
              <a:rPr lang="en-IN"/>
              <a:t>    cout &lt;&lt; "Hello, " &lt;&lt; name &lt;&lt; endl;</a:t>
            </a:r>
          </a:p>
          <a:p>
            <a:pPr marL="0" indent="0">
              <a:buNone/>
            </a:pPr>
            <a:r>
              <a:rPr lang="en-IN"/>
              <a:t>}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int main() {</a:t>
            </a:r>
          </a:p>
          <a:p>
            <a:pPr marL="0" indent="0">
              <a:buNone/>
            </a:pPr>
            <a:r>
              <a:rPr lang="en-IN"/>
              <a:t>    greet();          // Uses default</a:t>
            </a:r>
          </a:p>
          <a:p>
            <a:pPr marL="0" indent="0">
              <a:buNone/>
            </a:pPr>
            <a:r>
              <a:rPr lang="en-IN"/>
              <a:t>    greet("Prabhat"); // Overrides default</a:t>
            </a:r>
          </a:p>
          <a:p>
            <a:pPr marL="0" indent="0">
              <a:buNone/>
            </a:pPr>
            <a:r>
              <a:rPr lang="en-IN"/>
              <a:t>    return 0;</a:t>
            </a:r>
          </a:p>
          <a:p>
            <a:pPr marL="0" indent="0">
              <a:buNone/>
            </a:pPr>
            <a:r>
              <a:rPr lang="en-IN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7A2B7-554D-ECD5-BA9B-06995645CECC}"/>
              </a:ext>
            </a:extLst>
          </p:cNvPr>
          <p:cNvSpPr txBox="1"/>
          <p:nvPr/>
        </p:nvSpPr>
        <p:spPr>
          <a:xfrm>
            <a:off x="6097572" y="246426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Default values are used when no argument is passed.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916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6C569-E328-B49C-4D19-010CD558C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Classes and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B4399-27BC-C327-5CF7-8FFB27D5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private: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string name;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setRoll</a:t>
            </a:r>
            <a:r>
              <a:rPr lang="en-IN" dirty="0"/>
              <a:t>(int r) {</a:t>
            </a:r>
          </a:p>
          <a:p>
            <a:pPr marL="0" indent="0">
              <a:buNone/>
            </a:pPr>
            <a:r>
              <a:rPr lang="en-IN" dirty="0"/>
              <a:t>        roll = r;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display()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"Name: " &lt;&lt; name &lt;&lt; ", Roll: " &lt;&lt; roll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Student s1;</a:t>
            </a:r>
          </a:p>
          <a:p>
            <a:pPr marL="0" indent="0">
              <a:buNone/>
            </a:pPr>
            <a:r>
              <a:rPr lang="en-IN" dirty="0"/>
              <a:t>    s1.name = "Amit";</a:t>
            </a:r>
          </a:p>
          <a:p>
            <a:pPr marL="0" indent="0">
              <a:buNone/>
            </a:pPr>
            <a:r>
              <a:rPr lang="en-IN" dirty="0"/>
              <a:t>    s1.setRoll(101);</a:t>
            </a:r>
          </a:p>
          <a:p>
            <a:pPr marL="0" indent="0">
              <a:buNone/>
            </a:pPr>
            <a:r>
              <a:rPr lang="en-IN" dirty="0"/>
              <a:t>    s1.display();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AAB6C8-E19D-27F0-2BCB-9AECC2DDB82E}"/>
              </a:ext>
            </a:extLst>
          </p:cNvPr>
          <p:cNvSpPr txBox="1"/>
          <p:nvPr/>
        </p:nvSpPr>
        <p:spPr>
          <a:xfrm>
            <a:off x="4715760" y="2410608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→ </a:t>
            </a:r>
            <a:r>
              <a:rPr lang="en-US" dirty="0" err="1"/>
              <a:t>blueprintobject</a:t>
            </a:r>
            <a:r>
              <a:rPr lang="en-US" dirty="0"/>
              <a:t> → real </a:t>
            </a:r>
            <a:r>
              <a:rPr lang="en-US" dirty="0" err="1"/>
              <a:t>instanceprivate</a:t>
            </a:r>
            <a:r>
              <a:rPr lang="en-US" dirty="0"/>
              <a:t> → accessible inside </a:t>
            </a:r>
            <a:r>
              <a:rPr lang="en-US" dirty="0" err="1"/>
              <a:t>classpublic</a:t>
            </a:r>
            <a:r>
              <a:rPr lang="en-US" dirty="0"/>
              <a:t> → accessible outside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0225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2E1B0-41E6-630A-978C-AC838F24C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1A673-8E4B-64A7-41D8-6A77C879A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Box {</a:t>
            </a:r>
          </a:p>
          <a:p>
            <a:pPr marL="0" indent="0">
              <a:buNone/>
            </a:pPr>
            <a:r>
              <a:rPr lang="en-IN" dirty="0"/>
              <a:t>    int length;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Box() {                    // Default constructor</a:t>
            </a:r>
          </a:p>
          <a:p>
            <a:pPr marL="0" indent="0">
              <a:buNone/>
            </a:pPr>
            <a:r>
              <a:rPr lang="en-IN" dirty="0"/>
              <a:t>        length = 0;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"Default constructor\n";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Box(int l) {               // Parameterized constructor</a:t>
            </a:r>
          </a:p>
          <a:p>
            <a:pPr marL="0" indent="0">
              <a:buNone/>
            </a:pPr>
            <a:r>
              <a:rPr lang="en-IN" dirty="0"/>
              <a:t>        length = l;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"Parameterized constructor\n";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Box(</a:t>
            </a:r>
            <a:r>
              <a:rPr lang="en-IN" dirty="0" err="1"/>
              <a:t>const</a:t>
            </a:r>
            <a:r>
              <a:rPr lang="en-IN" dirty="0"/>
              <a:t> Box&amp; b) {        // Copy constructor</a:t>
            </a:r>
          </a:p>
          <a:p>
            <a:pPr marL="0" indent="0">
              <a:buNone/>
            </a:pPr>
            <a:r>
              <a:rPr lang="en-IN" dirty="0"/>
              <a:t>        length = </a:t>
            </a:r>
            <a:r>
              <a:rPr lang="en-IN" dirty="0" err="1"/>
              <a:t>b.length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"Copy constructor\n";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void show()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"Length: " &lt;&lt; length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Box b1;</a:t>
            </a:r>
          </a:p>
          <a:p>
            <a:pPr marL="0" indent="0">
              <a:buNone/>
            </a:pPr>
            <a:r>
              <a:rPr lang="en-IN" dirty="0"/>
              <a:t>    Box b2(10);</a:t>
            </a:r>
          </a:p>
          <a:p>
            <a:pPr marL="0" indent="0">
              <a:buNone/>
            </a:pPr>
            <a:r>
              <a:rPr lang="en-IN" dirty="0"/>
              <a:t>    Box b3 = b2;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b1.show();</a:t>
            </a:r>
          </a:p>
          <a:p>
            <a:pPr marL="0" indent="0">
              <a:buNone/>
            </a:pPr>
            <a:r>
              <a:rPr lang="en-IN" dirty="0"/>
              <a:t>    b2.show();</a:t>
            </a:r>
          </a:p>
          <a:p>
            <a:pPr marL="0" indent="0">
              <a:buNone/>
            </a:pPr>
            <a:r>
              <a:rPr lang="en-IN" dirty="0"/>
              <a:t>    b3.show();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06B91E-6853-AED7-ACDF-21D864B88623}"/>
              </a:ext>
            </a:extLst>
          </p:cNvPr>
          <p:cNvSpPr txBox="1"/>
          <p:nvPr/>
        </p:nvSpPr>
        <p:spPr>
          <a:xfrm>
            <a:off x="5121112" y="2476596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Constructors:Automatically</a:t>
            </a:r>
            <a:r>
              <a:rPr lang="en-US" dirty="0"/>
              <a:t> </a:t>
            </a:r>
            <a:r>
              <a:rPr lang="en-US" dirty="0" err="1"/>
              <a:t>calledSame</a:t>
            </a:r>
            <a:r>
              <a:rPr lang="en-US" dirty="0"/>
              <a:t> name as </a:t>
            </a:r>
            <a:r>
              <a:rPr lang="en-US" dirty="0" err="1"/>
              <a:t>classUsed</a:t>
            </a:r>
            <a:r>
              <a:rPr lang="en-US" dirty="0"/>
              <a:t> to initialize objects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895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E187-D045-79ED-9801-6B6E1B1D4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351CA-15EB-EE95-5A1B-F2CC53B90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r>
              <a:rPr lang="en-IN" dirty="0"/>
              <a:t>class Demo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Demo()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"Constructor called\n";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~Demo()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"Destructor called\n";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Demo d1;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"Inside main\n";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1B399-915B-43D9-860E-CBC558AEED2D}"/>
              </a:ext>
            </a:extLst>
          </p:cNvPr>
          <p:cNvSpPr txBox="1"/>
          <p:nvPr/>
        </p:nvSpPr>
        <p:spPr>
          <a:xfrm>
            <a:off x="4970283" y="2504875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Destructor starts with ~</a:t>
            </a:r>
          </a:p>
          <a:p>
            <a:r>
              <a:rPr lang="en-US" dirty="0"/>
              <a:t>Called automatically when object goes out of scope</a:t>
            </a:r>
          </a:p>
          <a:p>
            <a:r>
              <a:rPr lang="en-US" dirty="0"/>
              <a:t>Used for cleanup (memory, files, resources)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700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861</Words>
  <Application>Microsoft Office PowerPoint</Application>
  <PresentationFormat>Widescreen</PresentationFormat>
  <Paragraphs>192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C++ Programming</vt:lpstr>
      <vt:lpstr>C and C++ Difference</vt:lpstr>
      <vt:lpstr>Namespace, cin, cout, Basic I/O</vt:lpstr>
      <vt:lpstr>Namespace, cin, cout, Basic I/O</vt:lpstr>
      <vt:lpstr>References vs Pointers</vt:lpstr>
      <vt:lpstr>Function Overloading</vt:lpstr>
      <vt:lpstr>Default Arguments</vt:lpstr>
      <vt:lpstr>Classes and Objects</vt:lpstr>
      <vt:lpstr>Constructors</vt:lpstr>
      <vt:lpstr>Destructor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Prabhat Chandra</dc:creator>
  <cp:lastModifiedBy>Prabhat Chandra</cp:lastModifiedBy>
  <cp:revision>1</cp:revision>
  <dcterms:created xsi:type="dcterms:W3CDTF">2026-01-21T03:29:40Z</dcterms:created>
  <dcterms:modified xsi:type="dcterms:W3CDTF">2026-01-21T03:38:46Z</dcterms:modified>
</cp:coreProperties>
</file>