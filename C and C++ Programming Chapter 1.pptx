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91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47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5580A-A882-4EF9-963B-95B7E5C0FC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E1DFD-1DE8-4858-B49D-1C471E6B5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7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int a, b;</a:t>
            </a:r>
          </a:p>
          <a:p>
            <a:r>
              <a:rPr lang="en-IN" dirty="0"/>
              <a:t>    char op;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two numbers: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 %d", &amp;a, &amp;b);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operator (+ - * /):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 %c", &amp;op);</a:t>
            </a:r>
          </a:p>
          <a:p>
            <a:endParaRPr lang="en-IN" dirty="0"/>
          </a:p>
          <a:p>
            <a:r>
              <a:rPr lang="en-IN" dirty="0"/>
              <a:t>    if(op == '+')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+ b);</a:t>
            </a:r>
          </a:p>
          <a:p>
            <a:r>
              <a:rPr lang="en-IN" dirty="0"/>
              <a:t>    else if(op == '-')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- b);</a:t>
            </a:r>
          </a:p>
          <a:p>
            <a:r>
              <a:rPr lang="en-IN" dirty="0"/>
              <a:t>    else if(op == '*')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* b);</a:t>
            </a:r>
          </a:p>
          <a:p>
            <a:r>
              <a:rPr lang="en-IN" dirty="0"/>
              <a:t>    else if(op == '/')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/ b);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("Invalid Operator");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E1DFD-1DE8-4858-B49D-1C471E6B53C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356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FE4B-2BB4-7F1E-CCD7-B2846A408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EB43C-E78A-942B-3934-B39AE5322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36F87-82A2-D181-6E70-69FC136A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43898-07B4-D15F-7EDD-7A3B0605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FD900-D2E5-56B3-992A-FF9C63BE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10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E370-A347-CCDC-C63E-6CD94E79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177CB-611B-243C-EFEE-38CD8F5F3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389F0-ACA0-86E3-46A1-307B2DFA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884CF-4B91-B5D9-AFD2-84572BCB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EC2AB-3AE5-E70F-FAB2-ECA5694F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01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14DC-D8A3-63CD-3483-09C7D62A1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82BC-EE61-CB6B-D93D-4DA95E511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102AF-CDF1-CFDC-1E4C-32DBC714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A17C1-8E9D-9DC3-FCE3-6DAD220E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B53F-9D75-00BE-BABB-0ED9D3FA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81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C7C0-A03B-8A8E-C817-151F8F85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B409-857B-CB67-42A6-31E15EBE7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FA848-9741-0B64-F68E-72BCE5C01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E3A5A-5289-778E-3D1C-418F36AC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AAFE6-40CD-7C93-480C-9FAED449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1006A-146F-B072-E1BD-EB488D23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92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BA2D-4FA2-4154-1377-F7ABC4E0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A787E-7040-AB76-5466-41DD9E424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B556E-FA1F-8EFD-D921-FEE0423CD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3EC83-6210-E8C3-5A78-AC7CBA0D7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89CA0-0B05-A14E-9F7E-B76429E47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5C071-96F2-4F55-092F-D488CB7D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46A9C-7EC6-3FD6-AC25-1FF6E80D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0CF1FA-7120-54A8-3C84-F9AD9473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44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3883E-E36D-38A7-06BE-3C22D995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E8078-067C-0C72-44A8-CA8AFEE1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61F24-EBD9-E32B-6BC2-74731FD6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A74B0-BBE6-68E4-6300-C0B63ED6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37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F5F85-4811-3108-900F-7F1CC214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66CF1-24BA-5646-4D22-A9C74D28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C2228-FA4D-539E-C5E9-6A4B0159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36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D1128-2A9F-D01B-7047-72AC0F18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865E-6CF1-5CC4-BD80-6CB34B24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FCEE8-CD64-00B5-70C3-B93F4FD02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7C8A7-165E-7961-B3A8-62B131AD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5CFFB-82AE-7C46-F3EB-63D0908A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54DDA-00CF-D1D8-9627-F3648700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6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6A110-B6A5-214D-3667-6B267E21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CC736-D139-A795-589F-B283DD907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C3453-F32F-894E-F907-AB8DD6B64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EF4FC-2A41-F225-F271-D850B906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09FC9-EE2A-55FA-DF02-7CCC4B65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B53E1-B763-A538-BF4A-10009076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62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8383-E51B-FFA8-3F61-F7AB9147D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635D4-A593-58AF-31E7-B8F673C21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916C2-E1B8-B484-A3FA-0A0E0724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EADBC-71D8-3E3C-1C38-8044AEE4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45766-7D63-C443-007D-12245524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6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ADBC9-6D57-10AF-39F0-FEB977F87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0A253-2179-F45D-8537-A39863735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96975-1F34-0739-F86C-5557DBA8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7BC8A-49BD-DDD6-313C-EEDBF40A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DECCF-AB46-F993-B195-AF7DAA6C2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8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F6CEB-1A36-3F2E-6467-84748FCE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AA37C-4924-4576-7005-12C4E4BD8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3F5F-8F75-E36D-7547-CED273591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4E3D4-3148-42BC-B79D-E4A25807AF9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0DAE7-4523-CBB2-2A1E-12FBE4D9E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16634-A1CA-FE80-C930-3DF380612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F8569-FE56-4459-940E-4F84E916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73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D63F-0550-5F86-BB3E-323609E7AA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 and C++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A96F5-A322-65F9-8F0E-A9244A3B6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99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4DE9D-1C8E-1E79-9081-53D62B80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512E-311E-D9CB-E0BA-7C8BA3835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 Programming Fundamental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58D96-A81B-A668-9B59-7EF6086A46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97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7AC2-C5DA-AB66-F13A-1EA3022D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Learn C?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4E7A1E5-AF24-BC50-2318-31D30B058F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163" y="1532031"/>
            <a:ext cx="8946822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Mother of modern programming languages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Systems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Performance-critical 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strong fundamentals: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understanding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thinking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Low-level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1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2694-04C3-F38E-BBF2-5FF83B99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C Program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5E3CF-2974-BA43-0ED0-DDEFC14C9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Source Code → Compiler → Executable → Output</a:t>
            </a:r>
          </a:p>
          <a:p>
            <a:pPr lvl="1"/>
            <a:r>
              <a:rPr lang="en-IN" dirty="0" err="1"/>
              <a:t>hello.c</a:t>
            </a:r>
            <a:r>
              <a:rPr lang="en-IN" dirty="0"/>
              <a:t> → </a:t>
            </a:r>
            <a:r>
              <a:rPr lang="en-IN" dirty="0" err="1"/>
              <a:t>gcc</a:t>
            </a:r>
            <a:r>
              <a:rPr lang="en-IN" dirty="0"/>
              <a:t> → a.exe → Output on Screen</a:t>
            </a:r>
          </a:p>
          <a:p>
            <a:r>
              <a:rPr lang="en-US" dirty="0"/>
              <a:t>C is a compiled language</a:t>
            </a:r>
          </a:p>
          <a:p>
            <a:r>
              <a:rPr lang="en-US" dirty="0"/>
              <a:t>Errors caught at compile-time</a:t>
            </a:r>
          </a:p>
          <a:p>
            <a:r>
              <a:rPr lang="en-US" dirty="0"/>
              <a:t>Output is a machine-level executable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44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3B7-AC8C-A4D4-47C4-F0A076D4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C Program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07F27-6E9A-3388-AEE3-04895BF2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("Hello World");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Explain:</a:t>
            </a:r>
          </a:p>
          <a:p>
            <a:pPr lvl="1"/>
            <a:r>
              <a:rPr lang="en-US" dirty="0"/>
              <a:t>#include – Header files</a:t>
            </a:r>
          </a:p>
          <a:p>
            <a:pPr lvl="1"/>
            <a:r>
              <a:rPr lang="en-US" dirty="0"/>
              <a:t>main() – Entry point</a:t>
            </a:r>
          </a:p>
          <a:p>
            <a:pPr lvl="1"/>
            <a:r>
              <a:rPr lang="en-US" dirty="0"/>
              <a:t>{ } – Code block</a:t>
            </a:r>
          </a:p>
          <a:p>
            <a:pPr lvl="1"/>
            <a:r>
              <a:rPr lang="en-US" dirty="0"/>
              <a:t>return 0 – Program success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0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68FB-425C-52AD-6279-F19F85B5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&amp;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BB7D-A94A-FF7D-74A6-0A13FC492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 → 10, 25, -5</a:t>
            </a:r>
          </a:p>
          <a:p>
            <a:r>
              <a:rPr lang="en-IN" dirty="0"/>
              <a:t>float → 3.14</a:t>
            </a:r>
          </a:p>
          <a:p>
            <a:r>
              <a:rPr lang="en-IN" dirty="0"/>
              <a:t>char → 'A’</a:t>
            </a:r>
          </a:p>
          <a:p>
            <a:r>
              <a:rPr lang="en-IN" dirty="0"/>
              <a:t>double → 99.999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lvl="1"/>
            <a:r>
              <a:rPr lang="en-US" dirty="0"/>
              <a:t>int age = 25;</a:t>
            </a:r>
          </a:p>
          <a:p>
            <a:pPr lvl="1"/>
            <a:r>
              <a:rPr lang="en-US" dirty="0"/>
              <a:t>float salary = 45000.5;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55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0F50-5E02-C1B6-5A7F-4BF41D3A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&amp;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8D657-D038-A21A-A6C5-CF01F47D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printf</a:t>
            </a:r>
            <a:r>
              <a:rPr lang="en-IN" dirty="0"/>
              <a:t>() → Output</a:t>
            </a:r>
          </a:p>
          <a:p>
            <a:r>
              <a:rPr lang="en-IN" dirty="0" err="1"/>
              <a:t>scanf</a:t>
            </a:r>
            <a:r>
              <a:rPr lang="en-IN" dirty="0"/>
              <a:t>() → Input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int x;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("%d", &amp;x);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("Value is %d", x);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54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045C-32AF-DF38-6139-6E28A69D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BD18-B28E-A021-ECD0-0773CFA64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Arithmetic: + - * / %</a:t>
            </a:r>
          </a:p>
          <a:p>
            <a:r>
              <a:rPr lang="en-IN" dirty="0"/>
              <a:t>Relational: &gt; &lt; == !=</a:t>
            </a:r>
          </a:p>
          <a:p>
            <a:r>
              <a:rPr lang="en-IN" dirty="0"/>
              <a:t>Logical: &amp;&amp; || !</a:t>
            </a:r>
          </a:p>
        </p:txBody>
      </p:sp>
    </p:spTree>
    <p:extLst>
      <p:ext uri="{BB962C8B-B14F-4D97-AF65-F5344CB8AC3E}">
        <p14:creationId xmlns:p14="http://schemas.microsoft.com/office/powerpoint/2010/main" val="122506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0D60-67AA-72DA-03AD-9A3E2420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6B902-FCDB-AEBD-34E6-8A2B9C4F8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/ else</a:t>
            </a:r>
          </a:p>
          <a:p>
            <a:r>
              <a:rPr lang="en-IN" dirty="0"/>
              <a:t>for loop</a:t>
            </a:r>
          </a:p>
          <a:p>
            <a:r>
              <a:rPr lang="en-IN" dirty="0"/>
              <a:t>while loop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if(age &gt; 18)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("Eligible");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999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87C9-5BF7-4C60-63F8-4C147CDF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30B7-B387-2C6D-19E1-FA358006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hello.c</a:t>
            </a:r>
            <a:endParaRPr lang="en-US" dirty="0"/>
          </a:p>
          <a:p>
            <a:r>
              <a:rPr lang="en-US" dirty="0"/>
              <a:t>Compile using </a:t>
            </a:r>
            <a:r>
              <a:rPr lang="en-US" dirty="0" err="1"/>
              <a:t>gcc</a:t>
            </a:r>
            <a:endParaRPr lang="en-US" dirty="0"/>
          </a:p>
          <a:p>
            <a:r>
              <a:rPr lang="en-US" dirty="0"/>
              <a:t>Run program</a:t>
            </a:r>
          </a:p>
          <a:p>
            <a:r>
              <a:rPr lang="en-US" dirty="0"/>
              <a:t>Modify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278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D4FA-F0D8-DC33-D15E-039C46AB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 of Day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57C7C-579B-2F2F-3E87-8318F6228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Participants learned:</a:t>
            </a:r>
          </a:p>
          <a:p>
            <a:r>
              <a:rPr lang="en-US" dirty="0"/>
              <a:t>Write basic C programs</a:t>
            </a:r>
          </a:p>
          <a:p>
            <a:r>
              <a:rPr lang="en-US" dirty="0"/>
              <a:t>Compile &amp; run from terminal</a:t>
            </a:r>
          </a:p>
          <a:p>
            <a:r>
              <a:rPr lang="en-US" dirty="0"/>
              <a:t>Use variables, conditions, loops</a:t>
            </a:r>
          </a:p>
          <a:p>
            <a:r>
              <a:rPr lang="en-US" dirty="0"/>
              <a:t>Build small logical programs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46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C868-961C-F358-EE8C-F14731E6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FAEAF-A428-0594-92DE-81A10642F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and verify C environment</a:t>
            </a:r>
          </a:p>
          <a:p>
            <a:r>
              <a:rPr lang="en-US" dirty="0"/>
              <a:t>Write and run C programs</a:t>
            </a:r>
          </a:p>
          <a:p>
            <a:r>
              <a:rPr lang="en-US" dirty="0"/>
              <a:t>Use variables and operators</a:t>
            </a:r>
          </a:p>
          <a:p>
            <a:r>
              <a:rPr lang="en-US" dirty="0"/>
              <a:t>Implement conditions and loops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786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812D-C42E-5F41-1759-B1C23169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9D2A-5EF8-A503-BA2D-6DB484DD1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Verify Compiler</a:t>
            </a:r>
          </a:p>
          <a:p>
            <a:r>
              <a:rPr lang="en-IN" dirty="0"/>
              <a:t>Open terminal / command prompt:</a:t>
            </a:r>
          </a:p>
          <a:p>
            <a:pPr lvl="1"/>
            <a:r>
              <a:rPr lang="en-IN" dirty="0" err="1"/>
              <a:t>gcc</a:t>
            </a:r>
            <a:r>
              <a:rPr lang="en-IN" dirty="0"/>
              <a:t> –version</a:t>
            </a:r>
          </a:p>
          <a:p>
            <a:r>
              <a:rPr lang="en-US" dirty="0"/>
              <a:t>If version appears → setup is correct.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313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F270-CCA5-BCA3-08B8-2F0FB824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1 –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9B0A8-7275-3A8D-B174-A0F82F2EC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Create file: </a:t>
            </a:r>
            <a:r>
              <a:rPr lang="en-IN" dirty="0" err="1"/>
              <a:t>hello.c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("Welcome to C Programming!\n");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gcc</a:t>
            </a:r>
            <a:r>
              <a:rPr lang="en-IN" dirty="0"/>
              <a:t> </a:t>
            </a:r>
            <a:r>
              <a:rPr lang="en-IN" dirty="0" err="1"/>
              <a:t>hello.c</a:t>
            </a:r>
            <a:r>
              <a:rPr lang="en-IN" dirty="0"/>
              <a:t> -o hello</a:t>
            </a:r>
          </a:p>
          <a:p>
            <a:pPr marL="0" indent="0">
              <a:buNone/>
            </a:pPr>
            <a:r>
              <a:rPr lang="en-IN" dirty="0"/>
              <a:t>./hello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518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AA33-217A-EFB5-5D4A-AF81F09D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2 –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C8C26-C3C5-EC23-2212-2EE98D62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input.c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age;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your age: 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 &amp;age);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("Your age is %d\n", age);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08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E044-56FD-0C33-0A03-EC56435B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3 –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EB1C6-4286-22BD-B04E-640EBB0CF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calculator.c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a, b;</a:t>
            </a:r>
          </a:p>
          <a:p>
            <a:pPr marL="0" indent="0">
              <a:buNone/>
            </a:pPr>
            <a:r>
              <a:rPr lang="en-IN" dirty="0"/>
              <a:t>    char op;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two numbers: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 %d", &amp;a, &amp;b);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operator (+ - * /):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 %c", &amp;op);</a:t>
            </a:r>
          </a:p>
          <a:p>
            <a:pPr marL="0" indent="0">
              <a:buNone/>
            </a:pPr>
            <a:r>
              <a:rPr lang="en-IN" dirty="0"/>
              <a:t>    if(op == '+')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+ b);</a:t>
            </a:r>
          </a:p>
          <a:p>
            <a:pPr marL="0" indent="0">
              <a:buNone/>
            </a:pPr>
            <a:r>
              <a:rPr lang="en-IN" dirty="0"/>
              <a:t>    else if(op == '-')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- b);</a:t>
            </a:r>
          </a:p>
          <a:p>
            <a:pPr marL="0" indent="0">
              <a:buNone/>
            </a:pPr>
            <a:r>
              <a:rPr lang="en-IN" dirty="0"/>
              <a:t>    else if(op == '*')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* b);</a:t>
            </a:r>
          </a:p>
          <a:p>
            <a:pPr marL="0" indent="0">
              <a:buNone/>
            </a:pPr>
            <a:r>
              <a:rPr lang="en-IN" dirty="0"/>
              <a:t>    else if(op == '/')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("Result = %d", a / b);</a:t>
            </a:r>
          </a:p>
          <a:p>
            <a:pPr marL="0" indent="0">
              <a:buNone/>
            </a:pPr>
            <a:r>
              <a:rPr lang="en-IN" dirty="0"/>
              <a:t>    else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("Invalid Operator");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56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D1D7-1F62-7154-DEBD-B67F27E6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4 –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DA5ED-AB94-B14C-D267-EB1ECA9C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Create </a:t>
            </a:r>
            <a:r>
              <a:rPr lang="en-IN" dirty="0" err="1"/>
              <a:t>loops.c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&lt;= 10;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", 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57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9107-7610-3432-F5FA-0A9738EA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0C843-299E-CF69-D315-F9B91E90F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numbers from 100 to 1</a:t>
            </a:r>
          </a:p>
          <a:p>
            <a:r>
              <a:rPr lang="en-US" dirty="0"/>
              <a:t>Check if a number is even or odd</a:t>
            </a:r>
          </a:p>
          <a:p>
            <a:r>
              <a:rPr lang="en-US" dirty="0"/>
              <a:t>Print multiplication table of a number</a:t>
            </a:r>
          </a:p>
          <a:p>
            <a:r>
              <a:rPr lang="en-US" dirty="0"/>
              <a:t>Find sum of first N numbers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919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027F-DBF9-B90C-691D-B0F1A278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9596-549F-88BD-F3C0-5A656F61C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Create a </a:t>
            </a:r>
            <a:r>
              <a:rPr lang="en-IN" b="1" dirty="0"/>
              <a:t>Menu-Driven Program</a:t>
            </a:r>
            <a:r>
              <a:rPr lang="en-IN" dirty="0"/>
              <a:t>:</a:t>
            </a:r>
          </a:p>
          <a:p>
            <a:r>
              <a:rPr lang="en-US" dirty="0"/>
              <a:t>1. Add</a:t>
            </a:r>
          </a:p>
          <a:p>
            <a:r>
              <a:rPr lang="en-US" dirty="0"/>
              <a:t>2. Subtract</a:t>
            </a:r>
          </a:p>
          <a:p>
            <a:r>
              <a:rPr lang="en-US" dirty="0"/>
              <a:t>3. Multiply</a:t>
            </a:r>
          </a:p>
          <a:p>
            <a:r>
              <a:rPr lang="en-US" dirty="0"/>
              <a:t>4. Exit</a:t>
            </a:r>
          </a:p>
          <a:p>
            <a:pPr marL="0" indent="0">
              <a:buNone/>
            </a:pPr>
            <a:r>
              <a:rPr lang="en-US" dirty="0"/>
              <a:t>User selects option and enters numbers.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943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43D8-DA33-AAD9-2E18-8E62BE01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Arrays, Strings &amp; Pointers – Understanding Memory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BF4AA-0CA1-4B4D-0601-D389A9CB5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end, you will:</a:t>
            </a:r>
          </a:p>
          <a:p>
            <a:pPr lvl="1"/>
            <a:r>
              <a:rPr lang="en-US" dirty="0"/>
              <a:t>Use arrays for storing multiple values</a:t>
            </a:r>
          </a:p>
          <a:p>
            <a:pPr lvl="1"/>
            <a:r>
              <a:rPr lang="en-US" dirty="0"/>
              <a:t>Work with strings in C</a:t>
            </a:r>
          </a:p>
          <a:p>
            <a:pPr lvl="1"/>
            <a:r>
              <a:rPr lang="en-US" dirty="0"/>
              <a:t>Understand pointers and memory</a:t>
            </a:r>
          </a:p>
          <a:p>
            <a:pPr lvl="1"/>
            <a:r>
              <a:rPr lang="en-US" dirty="0"/>
              <a:t>Use functions with references</a:t>
            </a:r>
          </a:p>
          <a:p>
            <a:pPr lvl="1"/>
            <a:r>
              <a:rPr lang="en-US" dirty="0"/>
              <a:t>Allocate memory dynamically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032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DC4A-7BB4-59B9-B2CF-87DE63CC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Array?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F94A5-0BE3-3644-6CB3-67E771ED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Collection of same-type elements</a:t>
            </a:r>
          </a:p>
          <a:p>
            <a:r>
              <a:rPr lang="en-US" dirty="0"/>
              <a:t>Stored in contiguous memory</a:t>
            </a:r>
          </a:p>
          <a:p>
            <a:r>
              <a:rPr lang="en-US" dirty="0"/>
              <a:t>Index starts from 0</a:t>
            </a:r>
          </a:p>
          <a:p>
            <a:pPr lvl="1"/>
            <a:r>
              <a:rPr lang="en-US" dirty="0"/>
              <a:t>int marks[5] = {10, 20, 30, 40, 50};</a:t>
            </a:r>
          </a:p>
          <a:p>
            <a:r>
              <a:rPr lang="en-US" dirty="0"/>
              <a:t>Memory view (visual on slide):</a:t>
            </a:r>
          </a:p>
          <a:p>
            <a:pPr lvl="1"/>
            <a:r>
              <a:rPr lang="en-IN" dirty="0"/>
              <a:t>[10][20][30][40][50]</a:t>
            </a:r>
          </a:p>
          <a:p>
            <a:pPr lvl="1"/>
            <a:r>
              <a:rPr lang="en-IN" dirty="0"/>
              <a:t> 0   1   2   3   4</a:t>
            </a:r>
          </a:p>
          <a:p>
            <a:r>
              <a:rPr lang="en-IN" dirty="0"/>
              <a:t>Traversing Arrays</a:t>
            </a:r>
          </a:p>
          <a:p>
            <a:pPr marL="0" indent="0">
              <a:buNone/>
            </a:pPr>
            <a:r>
              <a:rPr lang="en-IN" dirty="0"/>
              <a:t>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5;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", marks[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234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A227-D16B-7951-8707-7B4F34FF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1C5CB-EB06-0C4D-E3FF-DBFE8A40F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are character arrays</a:t>
            </a:r>
          </a:p>
          <a:p>
            <a:r>
              <a:rPr lang="en-US" dirty="0"/>
              <a:t>End with '\0’</a:t>
            </a:r>
          </a:p>
          <a:p>
            <a:pPr lvl="1"/>
            <a:r>
              <a:rPr lang="en-IN" b="1" dirty="0"/>
              <a:t>char name[20] = "Prabhat";</a:t>
            </a:r>
          </a:p>
          <a:p>
            <a:pPr marL="457200" lvl="1" indent="0">
              <a:buNone/>
            </a:pP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3873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EA51-CE32-271D-EE50-C194A433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in C </a:t>
            </a:r>
            <a:r>
              <a:rPr lang="en-IN" dirty="0" err="1"/>
              <a:t>strcmp</a:t>
            </a:r>
            <a:r>
              <a:rPr lang="en-IN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2157-C11D-4054-3BD6-FF478E12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Step-by-Step Working</a:t>
            </a:r>
          </a:p>
          <a:p>
            <a:r>
              <a:rPr lang="en-US" dirty="0"/>
              <a:t>The function iterates through both strings simultaneously using their pointers: </a:t>
            </a:r>
          </a:p>
          <a:p>
            <a:r>
              <a:rPr lang="en-US" dirty="0"/>
              <a:t>Start at the beginning: It compares the first character of str1 with the first character of str2 using their integer ASCII values.</a:t>
            </a:r>
          </a:p>
          <a:p>
            <a:r>
              <a:rPr lang="en-US" dirty="0"/>
              <a:t>Continue if characters match: If the characters are identical, it moves to the next character in both strings.</a:t>
            </a:r>
          </a:p>
          <a:p>
            <a:r>
              <a:rPr lang="en-US" dirty="0"/>
              <a:t>Stop on mismatch or null-terminator: The comparison stops as soon as one of two conditions is met:</a:t>
            </a:r>
          </a:p>
          <a:p>
            <a:r>
              <a:rPr lang="en-US" dirty="0"/>
              <a:t>A pair of characters do not match.</a:t>
            </a:r>
          </a:p>
          <a:p>
            <a:r>
              <a:rPr lang="en-US" dirty="0"/>
              <a:t>The null character (\0) at the end of a string is encountered.</a:t>
            </a:r>
          </a:p>
          <a:p>
            <a:r>
              <a:rPr lang="en-US" dirty="0"/>
              <a:t>Determine the result: The return value is determined by the first difference found:</a:t>
            </a:r>
          </a:p>
          <a:p>
            <a:r>
              <a:rPr lang="en-US" dirty="0"/>
              <a:t>If all characters match and the null-terminator is reached in both strings, the function returns 0, indicating the strings are equal.</a:t>
            </a:r>
          </a:p>
          <a:p>
            <a:r>
              <a:rPr lang="en-US" dirty="0"/>
              <a:t>If a mismatch is found, the function returns a value based on the difference between the ASCII values of the first non-matching characters. The sign of the return value (positive or negative) indicates the lexicographical order. </a:t>
            </a:r>
          </a:p>
          <a:p>
            <a:pPr marL="0" indent="0">
              <a:buNone/>
            </a:pPr>
            <a:r>
              <a:rPr lang="en-US" dirty="0"/>
              <a:t>Interpreting the Return Value</a:t>
            </a:r>
          </a:p>
          <a:p>
            <a:r>
              <a:rPr lang="en-US" dirty="0"/>
              <a:t>Portable code should only rely on the sign of the return value, not the exact magnitude. </a:t>
            </a:r>
          </a:p>
          <a:p>
            <a:r>
              <a:rPr lang="en-US" dirty="0"/>
              <a:t>0: The strings are identical.</a:t>
            </a:r>
          </a:p>
          <a:p>
            <a:r>
              <a:rPr lang="en-US" dirty="0"/>
              <a:t>A negative value (&lt; 0): The first string (str1) is lexicographically less than the second string (str2) (e.g., "apple" comes before "banana" in a dictionary).</a:t>
            </a:r>
          </a:p>
          <a:p>
            <a:r>
              <a:rPr lang="en-US" dirty="0"/>
              <a:t>A positive value (&gt; 0): The first string (str1) is lexicographically greater than the second string (str2) (e.g., "zebra" comes after "apple").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676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98EC-5E81-2355-46F8-93145CD6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Pointer?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3F0A-D3D2-392D-58B8-9762D8D55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 stores address of a variable</a:t>
            </a:r>
          </a:p>
          <a:p>
            <a:r>
              <a:rPr lang="en-US" dirty="0"/>
              <a:t>Declared using *</a:t>
            </a:r>
          </a:p>
          <a:p>
            <a:pPr lvl="1"/>
            <a:r>
              <a:rPr lang="en-IN" dirty="0"/>
              <a:t>int x = 10;</a:t>
            </a:r>
          </a:p>
          <a:p>
            <a:pPr lvl="1"/>
            <a:r>
              <a:rPr lang="en-IN" dirty="0"/>
              <a:t>int *p = &amp;x;</a:t>
            </a:r>
          </a:p>
          <a:p>
            <a:r>
              <a:rPr lang="en-IN" dirty="0"/>
              <a:t>Memory view:</a:t>
            </a:r>
          </a:p>
          <a:p>
            <a:pPr lvl="1"/>
            <a:r>
              <a:rPr lang="en-US" dirty="0"/>
              <a:t>x   → 10</a:t>
            </a:r>
          </a:p>
          <a:p>
            <a:pPr lvl="1"/>
            <a:r>
              <a:rPr lang="en-US" dirty="0"/>
              <a:t>p   → address of 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47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36A0-6244-0866-7D0B-42F4A26F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Pointers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4F4E-5BEB-7E47-8747-1FD02608B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memory access</a:t>
            </a:r>
          </a:p>
          <a:p>
            <a:r>
              <a:rPr lang="en-US" dirty="0"/>
              <a:t>Efficient function calls</a:t>
            </a:r>
          </a:p>
          <a:p>
            <a:r>
              <a:rPr lang="en-US" dirty="0"/>
              <a:t>Dynamic memory</a:t>
            </a:r>
          </a:p>
          <a:p>
            <a:r>
              <a:rPr lang="en-US" dirty="0"/>
              <a:t>Core of system programming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845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FB49-6D67-3F3A-86DB-4A309BF1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 vs 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4A36-B2E9-C181-DF16-3F3C3D84F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void</a:t>
            </a:r>
            <a:r>
              <a:rPr lang="fr-FR" dirty="0"/>
              <a:t> swap(</a:t>
            </a:r>
            <a:r>
              <a:rPr lang="fr-FR" dirty="0" err="1"/>
              <a:t>int</a:t>
            </a:r>
            <a:r>
              <a:rPr lang="fr-FR" dirty="0"/>
              <a:t> *a, </a:t>
            </a:r>
            <a:r>
              <a:rPr lang="fr-FR" dirty="0" err="1"/>
              <a:t>int</a:t>
            </a:r>
            <a:r>
              <a:rPr lang="fr-FR" dirty="0"/>
              <a:t> *b) {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int</a:t>
            </a:r>
            <a:r>
              <a:rPr lang="fr-FR" dirty="0"/>
              <a:t> t = *a;</a:t>
            </a:r>
          </a:p>
          <a:p>
            <a:pPr marL="0" indent="0">
              <a:buNone/>
            </a:pPr>
            <a:r>
              <a:rPr lang="fr-FR" dirty="0"/>
              <a:t>    *a = *b;</a:t>
            </a:r>
          </a:p>
          <a:p>
            <a:pPr marL="0" indent="0">
              <a:buNone/>
            </a:pPr>
            <a:r>
              <a:rPr lang="fr-FR" dirty="0"/>
              <a:t>    *b = t;</a:t>
            </a:r>
          </a:p>
          <a:p>
            <a:pPr marL="0" indent="0">
              <a:buNone/>
            </a:pPr>
            <a:r>
              <a:rPr lang="fr-FR" dirty="0"/>
              <a:t>}</a:t>
            </a:r>
          </a:p>
          <a:p>
            <a:pPr marL="0" indent="0">
              <a:buNone/>
            </a:pPr>
            <a:r>
              <a:rPr lang="en-US" dirty="0"/>
              <a:t>Explain:</a:t>
            </a:r>
          </a:p>
          <a:p>
            <a:pPr lvl="1"/>
            <a:r>
              <a:rPr lang="en-US" dirty="0"/>
              <a:t>Value → copy</a:t>
            </a:r>
          </a:p>
          <a:p>
            <a:pPr lvl="1"/>
            <a:r>
              <a:rPr lang="en-US" dirty="0"/>
              <a:t>Reference → original variable changes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126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49AB-E055-9F55-9F6A-91116623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4CD33-3697-3E17-4A19-55BC4CC9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Allocated at runtime</a:t>
            </a:r>
          </a:p>
          <a:p>
            <a:r>
              <a:rPr lang="en-US" dirty="0"/>
              <a:t>malloc(), </a:t>
            </a:r>
            <a:r>
              <a:rPr lang="en-US" dirty="0" err="1"/>
              <a:t>calloc</a:t>
            </a:r>
            <a:r>
              <a:rPr lang="en-US" dirty="0"/>
              <a:t>()</a:t>
            </a:r>
          </a:p>
          <a:p>
            <a:r>
              <a:rPr lang="en-US" dirty="0"/>
              <a:t>Must be freed using free()</a:t>
            </a:r>
          </a:p>
          <a:p>
            <a:pPr lvl="1"/>
            <a:r>
              <a:rPr lang="en-US" dirty="0"/>
              <a:t>int *p = (int*)malloc(5 * 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705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250D-072B-845B-0D07-8ABF22E6E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7D8E-CB42-2766-0CA5-8C8753ACD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Participants can:</a:t>
            </a:r>
          </a:p>
          <a:p>
            <a:r>
              <a:rPr lang="en-US" dirty="0"/>
              <a:t>Build array-based programs</a:t>
            </a:r>
          </a:p>
          <a:p>
            <a:r>
              <a:rPr lang="en-US" dirty="0"/>
              <a:t>Manipulate strings manually</a:t>
            </a:r>
          </a:p>
          <a:p>
            <a:r>
              <a:rPr lang="en-US" dirty="0"/>
              <a:t>Use pointers confidently</a:t>
            </a:r>
          </a:p>
          <a:p>
            <a:r>
              <a:rPr lang="en-US" dirty="0"/>
              <a:t>Understand memory behavior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011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BB08-71C1-D781-FE07-37741921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Manual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2442-EBBB-04DA-E7BE-B68668173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  <a:p>
            <a:r>
              <a:rPr lang="en-US" dirty="0"/>
              <a:t>Create and process arrays</a:t>
            </a:r>
          </a:p>
          <a:p>
            <a:r>
              <a:rPr lang="en-US" dirty="0"/>
              <a:t>Reverse and analyze strings</a:t>
            </a:r>
          </a:p>
          <a:p>
            <a:r>
              <a:rPr lang="en-US" dirty="0"/>
              <a:t>Use pointers in functions</a:t>
            </a:r>
          </a:p>
          <a:p>
            <a:r>
              <a:rPr lang="en-US" dirty="0"/>
              <a:t>Allocate and free memory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549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6ACB-E096-E751-BCE5-B30AD099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1 – Array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012F-0D4B-8CE2-06E2-4F31F174A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array_ops.c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arr</a:t>
            </a:r>
            <a:r>
              <a:rPr lang="en-IN" dirty="0"/>
              <a:t>[5];</a:t>
            </a:r>
          </a:p>
          <a:p>
            <a:pPr marL="0" indent="0">
              <a:buNone/>
            </a:pPr>
            <a:r>
              <a:rPr lang="en-IN" dirty="0"/>
              <a:t>    int sum = 0;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5 numbers:\n");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5;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("%d", &amp;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pPr marL="0" indent="0">
              <a:buNone/>
            </a:pPr>
            <a:r>
              <a:rPr lang="en-IN" dirty="0"/>
              <a:t>        sum +=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("Sum = %d\n", sum);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389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8A6D-5317-ED48-F599-36306BB1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 – String Length Without Library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85107-4105-4287-B5FC-E0F09D03F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string_len.c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char str[50];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len</a:t>
            </a:r>
            <a:r>
              <a:rPr lang="en-IN" dirty="0"/>
              <a:t> = 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string: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("%s", str);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while(str[</a:t>
            </a:r>
            <a:r>
              <a:rPr lang="en-IN" dirty="0" err="1"/>
              <a:t>len</a:t>
            </a:r>
            <a:r>
              <a:rPr lang="en-IN" dirty="0"/>
              <a:t>] != '\0')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len</a:t>
            </a:r>
            <a:r>
              <a:rPr lang="en-IN" dirty="0"/>
              <a:t>++;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("Length = %d\n", </a:t>
            </a:r>
            <a:r>
              <a:rPr lang="en-IN" dirty="0" err="1"/>
              <a:t>len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681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177C-6E7E-20B8-E5CD-CBB2EB3C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 – Swap Using Pointers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53140-35A6-3311-B8EA-764D6572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swap.c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void swap(int *a, int *b) {</a:t>
            </a:r>
          </a:p>
          <a:p>
            <a:pPr marL="0" indent="0">
              <a:buNone/>
            </a:pPr>
            <a:r>
              <a:rPr lang="en-IN" dirty="0"/>
              <a:t>    int temp = *a;</a:t>
            </a:r>
          </a:p>
          <a:p>
            <a:pPr marL="0" indent="0">
              <a:buNone/>
            </a:pPr>
            <a:r>
              <a:rPr lang="en-IN" dirty="0"/>
              <a:t>    *a = *b;</a:t>
            </a:r>
          </a:p>
          <a:p>
            <a:pPr marL="0" indent="0">
              <a:buNone/>
            </a:pPr>
            <a:r>
              <a:rPr lang="en-IN" dirty="0"/>
              <a:t>    *b = temp;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x, y;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two numbers: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 %d", &amp;x, &amp;y);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swap(&amp;x, &amp;y);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("After swap: x=%d y=%d\n", x, y);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90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FF4D-9B1A-C129-DB99-379465D2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 – Dynamic Memory Allocation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89A02-2194-1659-7250-3D1B84F6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dynamic_array.c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n;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size: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&amp;n);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int *</a:t>
            </a:r>
            <a:r>
              <a:rPr lang="en-IN" dirty="0" err="1"/>
              <a:t>arr</a:t>
            </a:r>
            <a:r>
              <a:rPr lang="en-IN" dirty="0"/>
              <a:t> = (int*)malloc(n * </a:t>
            </a:r>
            <a:r>
              <a:rPr lang="en-IN" dirty="0" err="1"/>
              <a:t>sizeof</a:t>
            </a:r>
            <a:r>
              <a:rPr lang="en-IN" dirty="0"/>
              <a:t>(int));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= </a:t>
            </a:r>
            <a:r>
              <a:rPr lang="en-IN" dirty="0" err="1"/>
              <a:t>i</a:t>
            </a:r>
            <a:r>
              <a:rPr lang="en-IN" dirty="0"/>
              <a:t> + 1;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",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free(</a:t>
            </a:r>
            <a:r>
              <a:rPr lang="en-IN" dirty="0" err="1"/>
              <a:t>arr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933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473B-47D5-F276-84E3-4F700BE7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AD455-2612-0F6B-8126-7422977EB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maximum and minimum in an array</a:t>
            </a:r>
          </a:p>
          <a:p>
            <a:r>
              <a:rPr lang="en-US" dirty="0"/>
              <a:t>Reverse an array in-place</a:t>
            </a:r>
          </a:p>
          <a:p>
            <a:r>
              <a:rPr lang="en-US" dirty="0"/>
              <a:t>Count vowels in a string</a:t>
            </a:r>
          </a:p>
          <a:p>
            <a:r>
              <a:rPr lang="en-US" dirty="0"/>
              <a:t>Dynamically create an array and find its average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644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E335-B66A-1E15-2691-2BB2094C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 Challenge – Student Marks System (C)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6B1D6-8743-DEF2-4031-4F6B04988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program that:</a:t>
            </a:r>
          </a:p>
          <a:p>
            <a:r>
              <a:rPr lang="en-US" dirty="0"/>
              <a:t>Takes number of students</a:t>
            </a:r>
          </a:p>
          <a:p>
            <a:r>
              <a:rPr lang="en-US" dirty="0"/>
              <a:t>Dynamically allocates marks array</a:t>
            </a:r>
          </a:p>
          <a:p>
            <a:r>
              <a:rPr lang="en-US" dirty="0"/>
              <a:t>Accepts marks</a:t>
            </a:r>
          </a:p>
          <a:p>
            <a:r>
              <a:rPr lang="en-US" dirty="0"/>
              <a:t>Prints:</a:t>
            </a:r>
          </a:p>
          <a:p>
            <a:pPr lvl="1"/>
            <a:r>
              <a:rPr lang="en-US" dirty="0"/>
              <a:t>Average</a:t>
            </a:r>
          </a:p>
          <a:p>
            <a:pPr lvl="1"/>
            <a:r>
              <a:rPr lang="en-US" dirty="0"/>
              <a:t>Highest mark</a:t>
            </a:r>
          </a:p>
          <a:p>
            <a:pPr lvl="1"/>
            <a:r>
              <a:rPr lang="en-US" dirty="0"/>
              <a:t>Lowest mark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78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1895</Words>
  <Application>Microsoft Office PowerPoint</Application>
  <PresentationFormat>Widescreen</PresentationFormat>
  <Paragraphs>332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C and C++ Programming</vt:lpstr>
      <vt:lpstr>C Programming Fundamental</vt:lpstr>
      <vt:lpstr>Why Learn C?</vt:lpstr>
      <vt:lpstr>How C Program Works</vt:lpstr>
      <vt:lpstr>Structure of a C Program</vt:lpstr>
      <vt:lpstr>Variables &amp; Data Types</vt:lpstr>
      <vt:lpstr>Input &amp; Output</vt:lpstr>
      <vt:lpstr>Operators</vt:lpstr>
      <vt:lpstr>Control Flow</vt:lpstr>
      <vt:lpstr>Demo Flow</vt:lpstr>
      <vt:lpstr>End of Day Outcomes</vt:lpstr>
      <vt:lpstr>Lab 1</vt:lpstr>
      <vt:lpstr>Lab1</vt:lpstr>
      <vt:lpstr>Lab 1 – Hello World</vt:lpstr>
      <vt:lpstr>Lab 2 – User Input</vt:lpstr>
      <vt:lpstr>Lab 3 – Calculator</vt:lpstr>
      <vt:lpstr>Lab 4 – Loops</vt:lpstr>
      <vt:lpstr>Practice Tasks</vt:lpstr>
      <vt:lpstr>Mini Challenge</vt:lpstr>
      <vt:lpstr>Arrays, Strings &amp; Pointers – Understanding Memory</vt:lpstr>
      <vt:lpstr>What is an Array?</vt:lpstr>
      <vt:lpstr>Strings in C</vt:lpstr>
      <vt:lpstr>String in C strcmp()</vt:lpstr>
      <vt:lpstr>What is a Pointer?</vt:lpstr>
      <vt:lpstr>Why Pointers Matter?</vt:lpstr>
      <vt:lpstr>Call by Value vs Reference</vt:lpstr>
      <vt:lpstr>Dynamic Memory</vt:lpstr>
      <vt:lpstr>Learning Outcomes</vt:lpstr>
      <vt:lpstr>Lab Manual</vt:lpstr>
      <vt:lpstr>Lab 1 – Array Operations</vt:lpstr>
      <vt:lpstr>Lab 2 – String Length Without Library</vt:lpstr>
      <vt:lpstr>Lab 3 – Swap Using Pointers</vt:lpstr>
      <vt:lpstr>Lab 4 – Dynamic Memory Allocation</vt:lpstr>
      <vt:lpstr>Practice Tasks</vt:lpstr>
      <vt:lpstr>Mini Challenge – Student Marks System (C)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2</cp:revision>
  <dcterms:created xsi:type="dcterms:W3CDTF">2026-01-19T02:52:43Z</dcterms:created>
  <dcterms:modified xsi:type="dcterms:W3CDTF">2026-01-19T11:12:22Z</dcterms:modified>
</cp:coreProperties>
</file>